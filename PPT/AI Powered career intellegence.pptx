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Raleway"/>
      <p:regular r:id="rId28"/>
      <p:bold r:id="rId29"/>
      <p:italic r:id="rId30"/>
      <p:boldItalic r:id="rId31"/>
    </p:embeddedFont>
    <p:embeddedFont>
      <p:font typeface="Raleway ExtraBold"/>
      <p:bold r:id="rId32"/>
      <p:boldItalic r:id="rId33"/>
    </p:embeddedFont>
    <p:embeddedFont>
      <p:font typeface="Raleway Light"/>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Sudheer Pulluru"/>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aleway-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boldItalic.fntdata"/><Relationship Id="rId30" Type="http://schemas.openxmlformats.org/officeDocument/2006/relationships/font" Target="fonts/Raleway-italic.fntdata"/><Relationship Id="rId11" Type="http://schemas.openxmlformats.org/officeDocument/2006/relationships/slide" Target="slides/slide6.xml"/><Relationship Id="rId33" Type="http://schemas.openxmlformats.org/officeDocument/2006/relationships/font" Target="fonts/RalewayExtraBold-boldItalic.fntdata"/><Relationship Id="rId10" Type="http://schemas.openxmlformats.org/officeDocument/2006/relationships/slide" Target="slides/slide5.xml"/><Relationship Id="rId32" Type="http://schemas.openxmlformats.org/officeDocument/2006/relationships/font" Target="fonts/RalewayExtraBold-bold.fntdata"/><Relationship Id="rId13" Type="http://schemas.openxmlformats.org/officeDocument/2006/relationships/slide" Target="slides/slide8.xml"/><Relationship Id="rId35" Type="http://schemas.openxmlformats.org/officeDocument/2006/relationships/font" Target="fonts/RalewayLight-bold.fntdata"/><Relationship Id="rId12" Type="http://schemas.openxmlformats.org/officeDocument/2006/relationships/slide" Target="slides/slide7.xml"/><Relationship Id="rId34" Type="http://schemas.openxmlformats.org/officeDocument/2006/relationships/font" Target="fonts/RalewayLight-regular.fntdata"/><Relationship Id="rId15" Type="http://schemas.openxmlformats.org/officeDocument/2006/relationships/slide" Target="slides/slide10.xml"/><Relationship Id="rId37" Type="http://schemas.openxmlformats.org/officeDocument/2006/relationships/font" Target="fonts/RalewayLight-boldItalic.fntdata"/><Relationship Id="rId14" Type="http://schemas.openxmlformats.org/officeDocument/2006/relationships/slide" Target="slides/slide9.xml"/><Relationship Id="rId36" Type="http://schemas.openxmlformats.org/officeDocument/2006/relationships/font" Target="fonts/RalewayLight-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2-21T04:15:30.670">
    <p:pos x="6000" y="0"/>
    <p:text>The rise of Generative ai</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5f391192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5f391192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606f1c2d_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606f1c2d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5f391192_0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5f391192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d4d832f18ae143b_2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d4d832f18ae143b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ed75ccf_0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5ed75ccf_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5ed75ccf_0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5ed75ccf_0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5ed75ccf_05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5ed75ccf_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d4d832f18ae143b_2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d4d832f18ae143b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5ed75ccf_09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5ed75ccf_0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c73b4cf00_2_3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bc73b4cf00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bc73b4cf00_2_4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bc73b4cf00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bc73b4cf00_2_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bc73b4cf00_2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bc73b4cf00_2_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bc73b4cf00_2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bc73b4cf00_2_5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bc73b4cf00_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bc73b4cf00_2_5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bc73b4cf00_2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bc73b4cf00_2_6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bc73b4cf00_2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bc73b4cf00_2_6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bc73b4cf00_2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bc73b4cf00_2_6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bc73b4cf00_2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bc73b4cf00_2_9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bc73b4cf00_2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bc73b4cf00_2_10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bc73b4cf00_2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bc73b4cf00_2_9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bc73b4cf00_2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d4d832f18ae143b_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d4d832f18ae143b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accent1"/>
        </a:solidFill>
      </p:bgPr>
    </p:bg>
    <p:spTree>
      <p:nvGrpSpPr>
        <p:cNvPr id="9" name="Shape 9"/>
        <p:cNvGrpSpPr/>
        <p:nvPr/>
      </p:nvGrpSpPr>
      <p:grpSpPr>
        <a:xfrm>
          <a:off x="0" y="0"/>
          <a:ext cx="0" cy="0"/>
          <a:chOff x="0" y="0"/>
          <a:chExt cx="0" cy="0"/>
        </a:xfrm>
      </p:grpSpPr>
      <p:sp>
        <p:nvSpPr>
          <p:cNvPr id="10" name="Google Shape;10;p2"/>
          <p:cNvSpPr/>
          <p:nvPr/>
        </p:nvSpPr>
        <p:spPr>
          <a:xfrm>
            <a:off x="390735" y="379877"/>
            <a:ext cx="8362529" cy="4383746"/>
          </a:xfrm>
          <a:custGeom>
            <a:rect b="b" l="l" r="r" t="t"/>
            <a:pathLst>
              <a:path extrusionOk="0" fill="none" h="149667" w="285508">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cap="flat" cmpd="sng" w="19050">
            <a:solidFill>
              <a:schemeClr val="lt1"/>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685800" y="3287213"/>
            <a:ext cx="7772400" cy="11598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solidFill>
          <a:schemeClr val="accent1"/>
        </a:solidFill>
      </p:bgPr>
    </p:bg>
    <p:spTree>
      <p:nvGrpSpPr>
        <p:cNvPr id="12" name="Shape 12"/>
        <p:cNvGrpSpPr/>
        <p:nvPr/>
      </p:nvGrpSpPr>
      <p:grpSpPr>
        <a:xfrm>
          <a:off x="0" y="0"/>
          <a:ext cx="0" cy="0"/>
          <a:chOff x="0" y="0"/>
          <a:chExt cx="0" cy="0"/>
        </a:xfrm>
      </p:grpSpPr>
      <p:sp>
        <p:nvSpPr>
          <p:cNvPr id="13" name="Google Shape;13;p3"/>
          <p:cNvSpPr/>
          <p:nvPr/>
        </p:nvSpPr>
        <p:spPr>
          <a:xfrm>
            <a:off x="390735" y="379877"/>
            <a:ext cx="8362529" cy="4383746"/>
          </a:xfrm>
          <a:custGeom>
            <a:rect b="b" l="l" r="r" t="t"/>
            <a:pathLst>
              <a:path extrusionOk="0" fill="none" h="149667" w="285508">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cap="flat" cmpd="sng" w="19050">
            <a:solidFill>
              <a:schemeClr val="dk1"/>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3"/>
          <p:cNvSpPr txBox="1"/>
          <p:nvPr>
            <p:ph type="ctrTitle"/>
          </p:nvPr>
        </p:nvSpPr>
        <p:spPr>
          <a:xfrm>
            <a:off x="685800" y="2726342"/>
            <a:ext cx="7772400" cy="1159800"/>
          </a:xfrm>
          <a:prstGeom prst="rect">
            <a:avLst/>
          </a:prstGeom>
        </p:spPr>
        <p:txBody>
          <a:bodyPr anchorCtr="0" anchor="b"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5" name="Google Shape;15;p3"/>
          <p:cNvSpPr txBox="1"/>
          <p:nvPr>
            <p:ph idx="1" type="subTitle"/>
          </p:nvPr>
        </p:nvSpPr>
        <p:spPr>
          <a:xfrm>
            <a:off x="685800" y="3830653"/>
            <a:ext cx="7772400" cy="784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bg>
      <p:bgPr>
        <a:solidFill>
          <a:schemeClr val="accent1"/>
        </a:solidFill>
      </p:bgPr>
    </p:bg>
    <p:spTree>
      <p:nvGrpSpPr>
        <p:cNvPr id="16" name="Shape 16"/>
        <p:cNvGrpSpPr/>
        <p:nvPr/>
      </p:nvGrpSpPr>
      <p:grpSpPr>
        <a:xfrm>
          <a:off x="0" y="0"/>
          <a:ext cx="0" cy="0"/>
          <a:chOff x="0" y="0"/>
          <a:chExt cx="0" cy="0"/>
        </a:xfrm>
      </p:grpSpPr>
      <p:sp>
        <p:nvSpPr>
          <p:cNvPr id="17" name="Google Shape;17;p4"/>
          <p:cNvSpPr/>
          <p:nvPr/>
        </p:nvSpPr>
        <p:spPr>
          <a:xfrm flipH="1">
            <a:off x="390735" y="379877"/>
            <a:ext cx="8362529" cy="4383746"/>
          </a:xfrm>
          <a:custGeom>
            <a:rect b="b" l="l" r="r" t="t"/>
            <a:pathLst>
              <a:path extrusionOk="0" fill="none" h="149667" w="285508">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cap="flat" cmpd="sng" w="19050">
            <a:solidFill>
              <a:schemeClr val="dk1"/>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txBox="1"/>
          <p:nvPr>
            <p:ph idx="1" type="body"/>
          </p:nvPr>
        </p:nvSpPr>
        <p:spPr>
          <a:xfrm>
            <a:off x="1757200" y="2161800"/>
            <a:ext cx="5629800" cy="819900"/>
          </a:xfrm>
          <a:prstGeom prst="rect">
            <a:avLst/>
          </a:prstGeom>
        </p:spPr>
        <p:txBody>
          <a:bodyPr anchorCtr="0" anchor="ctr" bIns="91425" lIns="91425" spcFirstLastPara="1" rIns="91425" wrap="square" tIns="91425">
            <a:noAutofit/>
          </a:bodyPr>
          <a:lstStyle>
            <a:lvl1pPr indent="-419100" lvl="0" marL="457200" rtl="0" algn="ctr">
              <a:spcBef>
                <a:spcPts val="600"/>
              </a:spcBef>
              <a:spcAft>
                <a:spcPts val="0"/>
              </a:spcAft>
              <a:buClr>
                <a:schemeClr val="dk1"/>
              </a:buClr>
              <a:buSzPts val="3000"/>
              <a:buChar char="●"/>
              <a:defRPr i="1" sz="3000">
                <a:solidFill>
                  <a:schemeClr val="dk1"/>
                </a:solidFill>
              </a:defRPr>
            </a:lvl1pPr>
            <a:lvl2pPr indent="-419100" lvl="1" marL="914400" rtl="0" algn="ctr">
              <a:spcBef>
                <a:spcPts val="0"/>
              </a:spcBef>
              <a:spcAft>
                <a:spcPts val="0"/>
              </a:spcAft>
              <a:buClr>
                <a:schemeClr val="dk1"/>
              </a:buClr>
              <a:buSzPts val="3000"/>
              <a:buChar char="○"/>
              <a:defRPr i="1" sz="3000">
                <a:solidFill>
                  <a:schemeClr val="dk1"/>
                </a:solidFill>
              </a:defRPr>
            </a:lvl2pPr>
            <a:lvl3pPr indent="-419100" lvl="2" marL="1371600" rtl="0" algn="ctr">
              <a:spcBef>
                <a:spcPts val="0"/>
              </a:spcBef>
              <a:spcAft>
                <a:spcPts val="0"/>
              </a:spcAft>
              <a:buClr>
                <a:schemeClr val="dk1"/>
              </a:buClr>
              <a:buSzPts val="3000"/>
              <a:buChar char="■"/>
              <a:defRPr i="1" sz="3000">
                <a:solidFill>
                  <a:schemeClr val="dk1"/>
                </a:solidFill>
              </a:defRPr>
            </a:lvl3pPr>
            <a:lvl4pPr indent="-419100" lvl="3" marL="1828800" rtl="0" algn="ctr">
              <a:spcBef>
                <a:spcPts val="0"/>
              </a:spcBef>
              <a:spcAft>
                <a:spcPts val="0"/>
              </a:spcAft>
              <a:buClr>
                <a:schemeClr val="dk1"/>
              </a:buClr>
              <a:buSzPts val="3000"/>
              <a:buChar char="●"/>
              <a:defRPr i="1" sz="3000">
                <a:solidFill>
                  <a:schemeClr val="dk1"/>
                </a:solidFill>
              </a:defRPr>
            </a:lvl4pPr>
            <a:lvl5pPr indent="-419100" lvl="4" marL="2286000" rtl="0" algn="ctr">
              <a:spcBef>
                <a:spcPts val="0"/>
              </a:spcBef>
              <a:spcAft>
                <a:spcPts val="0"/>
              </a:spcAft>
              <a:buClr>
                <a:schemeClr val="dk1"/>
              </a:buClr>
              <a:buSzPts val="3000"/>
              <a:buChar char="○"/>
              <a:defRPr i="1" sz="3000">
                <a:solidFill>
                  <a:schemeClr val="dk1"/>
                </a:solidFill>
              </a:defRPr>
            </a:lvl5pPr>
            <a:lvl6pPr indent="-419100" lvl="5" marL="2743200" rtl="0" algn="ctr">
              <a:spcBef>
                <a:spcPts val="0"/>
              </a:spcBef>
              <a:spcAft>
                <a:spcPts val="0"/>
              </a:spcAft>
              <a:buClr>
                <a:schemeClr val="dk1"/>
              </a:buClr>
              <a:buSzPts val="3000"/>
              <a:buChar char="■"/>
              <a:defRPr i="1" sz="3000">
                <a:solidFill>
                  <a:schemeClr val="dk1"/>
                </a:solidFill>
              </a:defRPr>
            </a:lvl6pPr>
            <a:lvl7pPr indent="-419100" lvl="6" marL="3200400" rtl="0" algn="ctr">
              <a:spcBef>
                <a:spcPts val="0"/>
              </a:spcBef>
              <a:spcAft>
                <a:spcPts val="0"/>
              </a:spcAft>
              <a:buClr>
                <a:schemeClr val="dk1"/>
              </a:buClr>
              <a:buSzPts val="3000"/>
              <a:buChar char="●"/>
              <a:defRPr i="1" sz="3000">
                <a:solidFill>
                  <a:schemeClr val="dk1"/>
                </a:solidFill>
              </a:defRPr>
            </a:lvl7pPr>
            <a:lvl8pPr indent="-419100" lvl="7" marL="3657600" rtl="0" algn="ctr">
              <a:spcBef>
                <a:spcPts val="0"/>
              </a:spcBef>
              <a:spcAft>
                <a:spcPts val="0"/>
              </a:spcAft>
              <a:buClr>
                <a:schemeClr val="dk1"/>
              </a:buClr>
              <a:buSzPts val="3000"/>
              <a:buChar char="○"/>
              <a:defRPr i="1" sz="3000">
                <a:solidFill>
                  <a:schemeClr val="dk1"/>
                </a:solidFill>
              </a:defRPr>
            </a:lvl8pPr>
            <a:lvl9pPr indent="-419100" lvl="8" marL="4114800" algn="ctr">
              <a:spcBef>
                <a:spcPts val="0"/>
              </a:spcBef>
              <a:spcAft>
                <a:spcPts val="0"/>
              </a:spcAft>
              <a:buClr>
                <a:schemeClr val="dk1"/>
              </a:buClr>
              <a:buSzPts val="3000"/>
              <a:buChar char="■"/>
              <a:defRPr i="1" sz="3000">
                <a:solidFill>
                  <a:schemeClr val="dk1"/>
                </a:solidFill>
              </a:defRPr>
            </a:lvl9pPr>
          </a:lstStyle>
          <a:p/>
        </p:txBody>
      </p:sp>
      <p:sp>
        <p:nvSpPr>
          <p:cNvPr id="19" name="Google Shape;19;p4"/>
          <p:cNvSpPr txBox="1"/>
          <p:nvPr/>
        </p:nvSpPr>
        <p:spPr>
          <a:xfrm>
            <a:off x="205550" y="75075"/>
            <a:ext cx="7995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0">
                <a:solidFill>
                  <a:schemeClr val="dk1"/>
                </a:solidFill>
                <a:latin typeface="Raleway"/>
                <a:ea typeface="Raleway"/>
                <a:cs typeface="Raleway"/>
                <a:sym typeface="Raleway"/>
              </a:rPr>
              <a:t>“</a:t>
            </a:r>
            <a:endParaRPr b="1" sz="12000">
              <a:solidFill>
                <a:schemeClr val="dk1"/>
              </a:solidFill>
              <a:latin typeface="Raleway"/>
              <a:ea typeface="Raleway"/>
              <a:cs typeface="Raleway"/>
              <a:sym typeface="Raleway"/>
            </a:endParaRPr>
          </a:p>
        </p:txBody>
      </p:sp>
      <p:sp>
        <p:nvSpPr>
          <p:cNvPr id="20" name="Google Shape;20;p4"/>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21" name="Shape 21"/>
        <p:cNvGrpSpPr/>
        <p:nvPr/>
      </p:nvGrpSpPr>
      <p:grpSpPr>
        <a:xfrm>
          <a:off x="0" y="0"/>
          <a:ext cx="0" cy="0"/>
          <a:chOff x="0" y="0"/>
          <a:chExt cx="0" cy="0"/>
        </a:xfrm>
      </p:grpSpPr>
      <p:sp>
        <p:nvSpPr>
          <p:cNvPr id="22" name="Google Shape;22;p5"/>
          <p:cNvSpPr/>
          <p:nvPr/>
        </p:nvSpPr>
        <p:spPr>
          <a:xfrm>
            <a:off x="390735" y="379877"/>
            <a:ext cx="8362529" cy="4383746"/>
          </a:xfrm>
          <a:custGeom>
            <a:rect b="b" l="l" r="r" t="t"/>
            <a:pathLst>
              <a:path extrusionOk="0" fill="none" h="149667" w="285508">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cap="flat" cmpd="sng" w="19050">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5"/>
          <p:cNvSpPr txBox="1"/>
          <p:nvPr>
            <p:ph type="title"/>
          </p:nvPr>
        </p:nvSpPr>
        <p:spPr>
          <a:xfrm>
            <a:off x="922000" y="891775"/>
            <a:ext cx="6866100" cy="857400"/>
          </a:xfrm>
          <a:prstGeom prst="rect">
            <a:avLst/>
          </a:prstGeom>
        </p:spPr>
        <p:txBody>
          <a:bodyPr anchorCtr="0" anchor="t" bIns="91425" lIns="91425" spcFirstLastPara="1" rIns="91425" wrap="square" tIns="91425">
            <a:noAutofit/>
          </a:bodyPr>
          <a:lstStyle>
            <a:lvl1pPr lvl="0">
              <a:spcBef>
                <a:spcPts val="0"/>
              </a:spcBef>
              <a:spcAft>
                <a:spcPts val="0"/>
              </a:spcAft>
              <a:buSzPts val="5800"/>
              <a:buNone/>
              <a:defRPr/>
            </a:lvl1pPr>
            <a:lvl2pPr lvl="1">
              <a:spcBef>
                <a:spcPts val="0"/>
              </a:spcBef>
              <a:spcAft>
                <a:spcPts val="0"/>
              </a:spcAft>
              <a:buSzPts val="5800"/>
              <a:buNone/>
              <a:defRPr/>
            </a:lvl2pPr>
            <a:lvl3pPr lvl="2">
              <a:spcBef>
                <a:spcPts val="0"/>
              </a:spcBef>
              <a:spcAft>
                <a:spcPts val="0"/>
              </a:spcAft>
              <a:buSzPts val="5800"/>
              <a:buNone/>
              <a:defRPr/>
            </a:lvl3pPr>
            <a:lvl4pPr lvl="3">
              <a:spcBef>
                <a:spcPts val="0"/>
              </a:spcBef>
              <a:spcAft>
                <a:spcPts val="0"/>
              </a:spcAft>
              <a:buSzPts val="5800"/>
              <a:buNone/>
              <a:defRPr/>
            </a:lvl4pPr>
            <a:lvl5pPr lvl="4">
              <a:spcBef>
                <a:spcPts val="0"/>
              </a:spcBef>
              <a:spcAft>
                <a:spcPts val="0"/>
              </a:spcAft>
              <a:buSzPts val="5800"/>
              <a:buNone/>
              <a:defRPr/>
            </a:lvl5pPr>
            <a:lvl6pPr lvl="5">
              <a:spcBef>
                <a:spcPts val="0"/>
              </a:spcBef>
              <a:spcAft>
                <a:spcPts val="0"/>
              </a:spcAft>
              <a:buSzPts val="5800"/>
              <a:buNone/>
              <a:defRPr/>
            </a:lvl6pPr>
            <a:lvl7pPr lvl="6">
              <a:spcBef>
                <a:spcPts val="0"/>
              </a:spcBef>
              <a:spcAft>
                <a:spcPts val="0"/>
              </a:spcAft>
              <a:buSzPts val="5800"/>
              <a:buNone/>
              <a:defRPr/>
            </a:lvl7pPr>
            <a:lvl8pPr lvl="7">
              <a:spcBef>
                <a:spcPts val="0"/>
              </a:spcBef>
              <a:spcAft>
                <a:spcPts val="0"/>
              </a:spcAft>
              <a:buSzPts val="5800"/>
              <a:buNone/>
              <a:defRPr/>
            </a:lvl8pPr>
            <a:lvl9pPr lvl="8">
              <a:spcBef>
                <a:spcPts val="0"/>
              </a:spcBef>
              <a:spcAft>
                <a:spcPts val="0"/>
              </a:spcAft>
              <a:buSzPts val="5800"/>
              <a:buNone/>
              <a:defRPr/>
            </a:lvl9pPr>
          </a:lstStyle>
          <a:p/>
        </p:txBody>
      </p:sp>
      <p:sp>
        <p:nvSpPr>
          <p:cNvPr id="24" name="Google Shape;24;p5"/>
          <p:cNvSpPr txBox="1"/>
          <p:nvPr>
            <p:ph idx="1" type="body"/>
          </p:nvPr>
        </p:nvSpPr>
        <p:spPr>
          <a:xfrm>
            <a:off x="922000" y="1885951"/>
            <a:ext cx="6866100" cy="23661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Clr>
                <a:srgbClr val="FFB600"/>
              </a:buClr>
              <a:buSzPts val="1800"/>
              <a:buChar char="●"/>
              <a:defRPr/>
            </a:lvl1pPr>
            <a:lvl2pPr indent="-342900" lvl="1" marL="914400">
              <a:spcBef>
                <a:spcPts val="0"/>
              </a:spcBef>
              <a:spcAft>
                <a:spcPts val="0"/>
              </a:spcAft>
              <a:buClr>
                <a:srgbClr val="FFB600"/>
              </a:buClr>
              <a:buSzPts val="1800"/>
              <a:buChar char="○"/>
              <a:defRPr/>
            </a:lvl2pPr>
            <a:lvl3pPr indent="-342900" lvl="2" marL="1371600">
              <a:spcBef>
                <a:spcPts val="0"/>
              </a:spcBef>
              <a:spcAft>
                <a:spcPts val="0"/>
              </a:spcAft>
              <a:buClr>
                <a:srgbClr val="FFB600"/>
              </a:buClr>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5" name="Google Shape;25;p5"/>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lvl1pPr lvl="0">
              <a:buNone/>
              <a:defRPr>
                <a:solidFill>
                  <a:srgbClr val="FFB600"/>
                </a:solidFill>
              </a:defRPr>
            </a:lvl1pPr>
            <a:lvl2pPr lvl="1">
              <a:buNone/>
              <a:defRPr>
                <a:solidFill>
                  <a:srgbClr val="FFB600"/>
                </a:solidFill>
              </a:defRPr>
            </a:lvl2pPr>
            <a:lvl3pPr lvl="2">
              <a:buNone/>
              <a:defRPr>
                <a:solidFill>
                  <a:srgbClr val="FFB600"/>
                </a:solidFill>
              </a:defRPr>
            </a:lvl3pPr>
            <a:lvl4pPr lvl="3">
              <a:buNone/>
              <a:defRPr>
                <a:solidFill>
                  <a:srgbClr val="FFB600"/>
                </a:solidFill>
              </a:defRPr>
            </a:lvl4pPr>
            <a:lvl5pPr lvl="4">
              <a:buNone/>
              <a:defRPr>
                <a:solidFill>
                  <a:srgbClr val="FFB600"/>
                </a:solidFill>
              </a:defRPr>
            </a:lvl5pPr>
            <a:lvl6pPr lvl="5">
              <a:buNone/>
              <a:defRPr>
                <a:solidFill>
                  <a:srgbClr val="FFB600"/>
                </a:solidFill>
              </a:defRPr>
            </a:lvl6pPr>
            <a:lvl7pPr lvl="6">
              <a:buNone/>
              <a:defRPr>
                <a:solidFill>
                  <a:srgbClr val="FFB600"/>
                </a:solidFill>
              </a:defRPr>
            </a:lvl7pPr>
            <a:lvl8pPr lvl="7">
              <a:buNone/>
              <a:defRPr>
                <a:solidFill>
                  <a:srgbClr val="FFB600"/>
                </a:solidFill>
              </a:defRPr>
            </a:lvl8pPr>
            <a:lvl9pPr lvl="8">
              <a:buNone/>
              <a:defRPr>
                <a:solidFill>
                  <a:srgbClr val="FFB600"/>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26" name="Shape 26"/>
        <p:cNvGrpSpPr/>
        <p:nvPr/>
      </p:nvGrpSpPr>
      <p:grpSpPr>
        <a:xfrm>
          <a:off x="0" y="0"/>
          <a:ext cx="0" cy="0"/>
          <a:chOff x="0" y="0"/>
          <a:chExt cx="0" cy="0"/>
        </a:xfrm>
      </p:grpSpPr>
      <p:sp>
        <p:nvSpPr>
          <p:cNvPr id="27" name="Google Shape;27;p6"/>
          <p:cNvSpPr/>
          <p:nvPr/>
        </p:nvSpPr>
        <p:spPr>
          <a:xfrm>
            <a:off x="390735" y="379877"/>
            <a:ext cx="8362529" cy="4383746"/>
          </a:xfrm>
          <a:custGeom>
            <a:rect b="b" l="l" r="r" t="t"/>
            <a:pathLst>
              <a:path extrusionOk="0" fill="none" h="149667" w="285508">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cap="flat" cmpd="sng" w="19050">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6"/>
          <p:cNvSpPr txBox="1"/>
          <p:nvPr>
            <p:ph type="title"/>
          </p:nvPr>
        </p:nvSpPr>
        <p:spPr>
          <a:xfrm>
            <a:off x="922000" y="891775"/>
            <a:ext cx="6866100" cy="857400"/>
          </a:xfrm>
          <a:prstGeom prst="rect">
            <a:avLst/>
          </a:prstGeom>
        </p:spPr>
        <p:txBody>
          <a:bodyPr anchorCtr="0" anchor="t" bIns="91425" lIns="91425" spcFirstLastPara="1" rIns="91425" wrap="square" tIns="91425">
            <a:noAutofit/>
          </a:bodyPr>
          <a:lstStyle>
            <a:lvl1pPr lvl="0">
              <a:spcBef>
                <a:spcPts val="0"/>
              </a:spcBef>
              <a:spcAft>
                <a:spcPts val="0"/>
              </a:spcAft>
              <a:buSzPts val="5800"/>
              <a:buNone/>
              <a:defRPr/>
            </a:lvl1pPr>
            <a:lvl2pPr lvl="1">
              <a:spcBef>
                <a:spcPts val="0"/>
              </a:spcBef>
              <a:spcAft>
                <a:spcPts val="0"/>
              </a:spcAft>
              <a:buSzPts val="5800"/>
              <a:buNone/>
              <a:defRPr/>
            </a:lvl2pPr>
            <a:lvl3pPr lvl="2">
              <a:spcBef>
                <a:spcPts val="0"/>
              </a:spcBef>
              <a:spcAft>
                <a:spcPts val="0"/>
              </a:spcAft>
              <a:buSzPts val="5800"/>
              <a:buNone/>
              <a:defRPr/>
            </a:lvl3pPr>
            <a:lvl4pPr lvl="3">
              <a:spcBef>
                <a:spcPts val="0"/>
              </a:spcBef>
              <a:spcAft>
                <a:spcPts val="0"/>
              </a:spcAft>
              <a:buSzPts val="5800"/>
              <a:buNone/>
              <a:defRPr/>
            </a:lvl4pPr>
            <a:lvl5pPr lvl="4">
              <a:spcBef>
                <a:spcPts val="0"/>
              </a:spcBef>
              <a:spcAft>
                <a:spcPts val="0"/>
              </a:spcAft>
              <a:buSzPts val="5800"/>
              <a:buNone/>
              <a:defRPr/>
            </a:lvl5pPr>
            <a:lvl6pPr lvl="5">
              <a:spcBef>
                <a:spcPts val="0"/>
              </a:spcBef>
              <a:spcAft>
                <a:spcPts val="0"/>
              </a:spcAft>
              <a:buSzPts val="5800"/>
              <a:buNone/>
              <a:defRPr/>
            </a:lvl6pPr>
            <a:lvl7pPr lvl="6">
              <a:spcBef>
                <a:spcPts val="0"/>
              </a:spcBef>
              <a:spcAft>
                <a:spcPts val="0"/>
              </a:spcAft>
              <a:buSzPts val="5800"/>
              <a:buNone/>
              <a:defRPr/>
            </a:lvl7pPr>
            <a:lvl8pPr lvl="7">
              <a:spcBef>
                <a:spcPts val="0"/>
              </a:spcBef>
              <a:spcAft>
                <a:spcPts val="0"/>
              </a:spcAft>
              <a:buSzPts val="5800"/>
              <a:buNone/>
              <a:defRPr/>
            </a:lvl8pPr>
            <a:lvl9pPr lvl="8">
              <a:spcBef>
                <a:spcPts val="0"/>
              </a:spcBef>
              <a:spcAft>
                <a:spcPts val="0"/>
              </a:spcAft>
              <a:buSzPts val="5800"/>
              <a:buNone/>
              <a:defRPr/>
            </a:lvl9pPr>
          </a:lstStyle>
          <a:p/>
        </p:txBody>
      </p:sp>
      <p:sp>
        <p:nvSpPr>
          <p:cNvPr id="29" name="Google Shape;29;p6"/>
          <p:cNvSpPr txBox="1"/>
          <p:nvPr>
            <p:ph idx="1" type="body"/>
          </p:nvPr>
        </p:nvSpPr>
        <p:spPr>
          <a:xfrm>
            <a:off x="922000" y="1887378"/>
            <a:ext cx="3543300" cy="30276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30" name="Google Shape;30;p6"/>
          <p:cNvSpPr txBox="1"/>
          <p:nvPr>
            <p:ph idx="2" type="body"/>
          </p:nvPr>
        </p:nvSpPr>
        <p:spPr>
          <a:xfrm>
            <a:off x="4678687" y="1887378"/>
            <a:ext cx="3543300" cy="30276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31" name="Google Shape;31;p6"/>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32" name="Shape 32"/>
        <p:cNvGrpSpPr/>
        <p:nvPr/>
      </p:nvGrpSpPr>
      <p:grpSpPr>
        <a:xfrm>
          <a:off x="0" y="0"/>
          <a:ext cx="0" cy="0"/>
          <a:chOff x="0" y="0"/>
          <a:chExt cx="0" cy="0"/>
        </a:xfrm>
      </p:grpSpPr>
      <p:sp>
        <p:nvSpPr>
          <p:cNvPr id="33" name="Google Shape;33;p7"/>
          <p:cNvSpPr/>
          <p:nvPr/>
        </p:nvSpPr>
        <p:spPr>
          <a:xfrm>
            <a:off x="390735" y="379877"/>
            <a:ext cx="8362529" cy="4383746"/>
          </a:xfrm>
          <a:custGeom>
            <a:rect b="b" l="l" r="r" t="t"/>
            <a:pathLst>
              <a:path extrusionOk="0" fill="none" h="149667" w="285508">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cap="flat" cmpd="sng" w="19050">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7"/>
          <p:cNvSpPr txBox="1"/>
          <p:nvPr>
            <p:ph type="title"/>
          </p:nvPr>
        </p:nvSpPr>
        <p:spPr>
          <a:xfrm>
            <a:off x="922000" y="891775"/>
            <a:ext cx="6866100" cy="857400"/>
          </a:xfrm>
          <a:prstGeom prst="rect">
            <a:avLst/>
          </a:prstGeom>
        </p:spPr>
        <p:txBody>
          <a:bodyPr anchorCtr="0" anchor="t" bIns="91425" lIns="91425" spcFirstLastPara="1" rIns="91425" wrap="square" tIns="91425">
            <a:noAutofit/>
          </a:bodyPr>
          <a:lstStyle>
            <a:lvl1pPr lvl="0" rtl="0">
              <a:spcBef>
                <a:spcPts val="0"/>
              </a:spcBef>
              <a:spcAft>
                <a:spcPts val="0"/>
              </a:spcAft>
              <a:buSzPts val="5800"/>
              <a:buNone/>
              <a:defRPr/>
            </a:lvl1pPr>
            <a:lvl2pPr lvl="1" rtl="0">
              <a:spcBef>
                <a:spcPts val="0"/>
              </a:spcBef>
              <a:spcAft>
                <a:spcPts val="0"/>
              </a:spcAft>
              <a:buSzPts val="5800"/>
              <a:buNone/>
              <a:defRPr/>
            </a:lvl2pPr>
            <a:lvl3pPr lvl="2" rtl="0">
              <a:spcBef>
                <a:spcPts val="0"/>
              </a:spcBef>
              <a:spcAft>
                <a:spcPts val="0"/>
              </a:spcAft>
              <a:buSzPts val="5800"/>
              <a:buNone/>
              <a:defRPr/>
            </a:lvl3pPr>
            <a:lvl4pPr lvl="3" rtl="0">
              <a:spcBef>
                <a:spcPts val="0"/>
              </a:spcBef>
              <a:spcAft>
                <a:spcPts val="0"/>
              </a:spcAft>
              <a:buSzPts val="5800"/>
              <a:buNone/>
              <a:defRPr/>
            </a:lvl4pPr>
            <a:lvl5pPr lvl="4" rtl="0">
              <a:spcBef>
                <a:spcPts val="0"/>
              </a:spcBef>
              <a:spcAft>
                <a:spcPts val="0"/>
              </a:spcAft>
              <a:buSzPts val="5800"/>
              <a:buNone/>
              <a:defRPr/>
            </a:lvl5pPr>
            <a:lvl6pPr lvl="5" rtl="0">
              <a:spcBef>
                <a:spcPts val="0"/>
              </a:spcBef>
              <a:spcAft>
                <a:spcPts val="0"/>
              </a:spcAft>
              <a:buSzPts val="5800"/>
              <a:buNone/>
              <a:defRPr/>
            </a:lvl6pPr>
            <a:lvl7pPr lvl="6" rtl="0">
              <a:spcBef>
                <a:spcPts val="0"/>
              </a:spcBef>
              <a:spcAft>
                <a:spcPts val="0"/>
              </a:spcAft>
              <a:buSzPts val="5800"/>
              <a:buNone/>
              <a:defRPr/>
            </a:lvl7pPr>
            <a:lvl8pPr lvl="7" rtl="0">
              <a:spcBef>
                <a:spcPts val="0"/>
              </a:spcBef>
              <a:spcAft>
                <a:spcPts val="0"/>
              </a:spcAft>
              <a:buSzPts val="5800"/>
              <a:buNone/>
              <a:defRPr/>
            </a:lvl8pPr>
            <a:lvl9pPr lvl="8" rtl="0">
              <a:spcBef>
                <a:spcPts val="0"/>
              </a:spcBef>
              <a:spcAft>
                <a:spcPts val="0"/>
              </a:spcAft>
              <a:buSzPts val="5800"/>
              <a:buNone/>
              <a:defRPr/>
            </a:lvl9pPr>
          </a:lstStyle>
          <a:p/>
        </p:txBody>
      </p:sp>
      <p:sp>
        <p:nvSpPr>
          <p:cNvPr id="35" name="Google Shape;35;p7"/>
          <p:cNvSpPr txBox="1"/>
          <p:nvPr>
            <p:ph idx="1" type="body"/>
          </p:nvPr>
        </p:nvSpPr>
        <p:spPr>
          <a:xfrm>
            <a:off x="922000" y="1930500"/>
            <a:ext cx="2332200" cy="2919000"/>
          </a:xfrm>
          <a:prstGeom prst="rect">
            <a:avLst/>
          </a:prstGeom>
        </p:spPr>
        <p:txBody>
          <a:bodyPr anchorCtr="0" anchor="t" bIns="91425" lIns="91425" spcFirstLastPara="1" rIns="91425" wrap="square" tIns="91425">
            <a:noAutofit/>
          </a:bodyPr>
          <a:lstStyle>
            <a:lvl1pPr indent="-317500" lvl="0" marL="457200" rtl="0">
              <a:spcBef>
                <a:spcPts val="60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36" name="Google Shape;36;p7"/>
          <p:cNvSpPr txBox="1"/>
          <p:nvPr>
            <p:ph idx="2" type="body"/>
          </p:nvPr>
        </p:nvSpPr>
        <p:spPr>
          <a:xfrm>
            <a:off x="3373778" y="1930500"/>
            <a:ext cx="2332200" cy="2919000"/>
          </a:xfrm>
          <a:prstGeom prst="rect">
            <a:avLst/>
          </a:prstGeom>
        </p:spPr>
        <p:txBody>
          <a:bodyPr anchorCtr="0" anchor="t" bIns="91425" lIns="91425" spcFirstLastPara="1" rIns="91425" wrap="square" tIns="91425">
            <a:noAutofit/>
          </a:bodyPr>
          <a:lstStyle>
            <a:lvl1pPr indent="-317500" lvl="0" marL="457200" rtl="0">
              <a:spcBef>
                <a:spcPts val="60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37" name="Google Shape;37;p7"/>
          <p:cNvSpPr txBox="1"/>
          <p:nvPr>
            <p:ph idx="3" type="body"/>
          </p:nvPr>
        </p:nvSpPr>
        <p:spPr>
          <a:xfrm>
            <a:off x="5825557" y="1930500"/>
            <a:ext cx="2332200" cy="2919000"/>
          </a:xfrm>
          <a:prstGeom prst="rect">
            <a:avLst/>
          </a:prstGeom>
        </p:spPr>
        <p:txBody>
          <a:bodyPr anchorCtr="0" anchor="t" bIns="91425" lIns="91425" spcFirstLastPara="1" rIns="91425" wrap="square" tIns="91425">
            <a:noAutofit/>
          </a:bodyPr>
          <a:lstStyle>
            <a:lvl1pPr indent="-317500" lvl="0" marL="457200" rtl="0">
              <a:spcBef>
                <a:spcPts val="60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38" name="Google Shape;38;p7"/>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8"/>
          <p:cNvSpPr/>
          <p:nvPr/>
        </p:nvSpPr>
        <p:spPr>
          <a:xfrm>
            <a:off x="390735" y="379877"/>
            <a:ext cx="8362529" cy="4383746"/>
          </a:xfrm>
          <a:custGeom>
            <a:rect b="b" l="l" r="r" t="t"/>
            <a:pathLst>
              <a:path extrusionOk="0" fill="none" h="149667" w="285508">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cap="flat" cmpd="sng" w="19050">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8"/>
          <p:cNvSpPr txBox="1"/>
          <p:nvPr>
            <p:ph type="title"/>
          </p:nvPr>
        </p:nvSpPr>
        <p:spPr>
          <a:xfrm>
            <a:off x="922000" y="891775"/>
            <a:ext cx="6866100" cy="857400"/>
          </a:xfrm>
          <a:prstGeom prst="rect">
            <a:avLst/>
          </a:prstGeom>
        </p:spPr>
        <p:txBody>
          <a:bodyPr anchorCtr="0" anchor="t" bIns="91425" lIns="91425" spcFirstLastPara="1" rIns="91425" wrap="square" tIns="91425">
            <a:noAutofit/>
          </a:bodyPr>
          <a:lstStyle>
            <a:lvl1pPr lvl="0">
              <a:spcBef>
                <a:spcPts val="0"/>
              </a:spcBef>
              <a:spcAft>
                <a:spcPts val="0"/>
              </a:spcAft>
              <a:buSzPts val="5800"/>
              <a:buNone/>
              <a:defRPr/>
            </a:lvl1pPr>
            <a:lvl2pPr lvl="1">
              <a:spcBef>
                <a:spcPts val="0"/>
              </a:spcBef>
              <a:spcAft>
                <a:spcPts val="0"/>
              </a:spcAft>
              <a:buSzPts val="5800"/>
              <a:buNone/>
              <a:defRPr/>
            </a:lvl2pPr>
            <a:lvl3pPr lvl="2">
              <a:spcBef>
                <a:spcPts val="0"/>
              </a:spcBef>
              <a:spcAft>
                <a:spcPts val="0"/>
              </a:spcAft>
              <a:buSzPts val="5800"/>
              <a:buNone/>
              <a:defRPr/>
            </a:lvl3pPr>
            <a:lvl4pPr lvl="3">
              <a:spcBef>
                <a:spcPts val="0"/>
              </a:spcBef>
              <a:spcAft>
                <a:spcPts val="0"/>
              </a:spcAft>
              <a:buSzPts val="5800"/>
              <a:buNone/>
              <a:defRPr/>
            </a:lvl4pPr>
            <a:lvl5pPr lvl="4">
              <a:spcBef>
                <a:spcPts val="0"/>
              </a:spcBef>
              <a:spcAft>
                <a:spcPts val="0"/>
              </a:spcAft>
              <a:buSzPts val="5800"/>
              <a:buNone/>
              <a:defRPr/>
            </a:lvl5pPr>
            <a:lvl6pPr lvl="5">
              <a:spcBef>
                <a:spcPts val="0"/>
              </a:spcBef>
              <a:spcAft>
                <a:spcPts val="0"/>
              </a:spcAft>
              <a:buSzPts val="5800"/>
              <a:buNone/>
              <a:defRPr/>
            </a:lvl6pPr>
            <a:lvl7pPr lvl="6">
              <a:spcBef>
                <a:spcPts val="0"/>
              </a:spcBef>
              <a:spcAft>
                <a:spcPts val="0"/>
              </a:spcAft>
              <a:buSzPts val="5800"/>
              <a:buNone/>
              <a:defRPr/>
            </a:lvl7pPr>
            <a:lvl8pPr lvl="7">
              <a:spcBef>
                <a:spcPts val="0"/>
              </a:spcBef>
              <a:spcAft>
                <a:spcPts val="0"/>
              </a:spcAft>
              <a:buSzPts val="5800"/>
              <a:buNone/>
              <a:defRPr/>
            </a:lvl8pPr>
            <a:lvl9pPr lvl="8">
              <a:spcBef>
                <a:spcPts val="0"/>
              </a:spcBef>
              <a:spcAft>
                <a:spcPts val="0"/>
              </a:spcAft>
              <a:buSzPts val="5800"/>
              <a:buNone/>
              <a:defRPr/>
            </a:lvl9pPr>
          </a:lstStyle>
          <a:p/>
        </p:txBody>
      </p:sp>
      <p:sp>
        <p:nvSpPr>
          <p:cNvPr id="42" name="Google Shape;42;p8"/>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Compact">
  <p:cSld name="TITLE_ONLY_1">
    <p:spTree>
      <p:nvGrpSpPr>
        <p:cNvPr id="43" name="Shape 43"/>
        <p:cNvGrpSpPr/>
        <p:nvPr/>
      </p:nvGrpSpPr>
      <p:grpSpPr>
        <a:xfrm>
          <a:off x="0" y="0"/>
          <a:ext cx="0" cy="0"/>
          <a:chOff x="0" y="0"/>
          <a:chExt cx="0" cy="0"/>
        </a:xfrm>
      </p:grpSpPr>
      <p:sp>
        <p:nvSpPr>
          <p:cNvPr id="44" name="Google Shape;44;p9"/>
          <p:cNvSpPr/>
          <p:nvPr/>
        </p:nvSpPr>
        <p:spPr>
          <a:xfrm>
            <a:off x="390735" y="379877"/>
            <a:ext cx="8362529" cy="4383746"/>
          </a:xfrm>
          <a:custGeom>
            <a:rect b="b" l="l" r="r" t="t"/>
            <a:pathLst>
              <a:path extrusionOk="0" fill="none" h="149667" w="285508">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cap="flat" cmpd="sng" w="19050">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9"/>
          <p:cNvSpPr txBox="1"/>
          <p:nvPr>
            <p:ph type="title"/>
          </p:nvPr>
        </p:nvSpPr>
        <p:spPr>
          <a:xfrm>
            <a:off x="922000" y="815575"/>
            <a:ext cx="7287000" cy="857400"/>
          </a:xfrm>
          <a:prstGeom prst="rect">
            <a:avLst/>
          </a:prstGeom>
        </p:spPr>
        <p:txBody>
          <a:bodyPr anchorCtr="0" anchor="t" bIns="91425" lIns="91425" spcFirstLastPara="1" rIns="91425" wrap="square" tIns="91425">
            <a:noAutofit/>
          </a:bodyPr>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p:txBody>
      </p:sp>
      <p:sp>
        <p:nvSpPr>
          <p:cNvPr id="46" name="Google Shape;46;p9"/>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p10"/>
          <p:cNvSpPr/>
          <p:nvPr/>
        </p:nvSpPr>
        <p:spPr>
          <a:xfrm>
            <a:off x="390735" y="379877"/>
            <a:ext cx="8362529" cy="4383746"/>
          </a:xfrm>
          <a:custGeom>
            <a:rect b="b" l="l" r="r" t="t"/>
            <a:pathLst>
              <a:path extrusionOk="0" fill="none" h="149667" w="285508">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cap="flat" cmpd="sng" w="19050">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0"/>
          <p:cNvSpPr txBox="1"/>
          <p:nvPr>
            <p:ph idx="1" type="body"/>
          </p:nvPr>
        </p:nvSpPr>
        <p:spPr>
          <a:xfrm>
            <a:off x="457200" y="4253909"/>
            <a:ext cx="8229600" cy="519600"/>
          </a:xfrm>
          <a:prstGeom prst="rect">
            <a:avLst/>
          </a:prstGeom>
        </p:spPr>
        <p:txBody>
          <a:bodyPr anchorCtr="0" anchor="t" bIns="91425" lIns="91425" spcFirstLastPara="1" rIns="91425" wrap="square" tIns="91425">
            <a:noAutofit/>
          </a:bodyPr>
          <a:lstStyle>
            <a:lvl1pPr indent="-228600" lvl="0" marL="457200" algn="ctr">
              <a:spcBef>
                <a:spcPts val="360"/>
              </a:spcBef>
              <a:spcAft>
                <a:spcPts val="0"/>
              </a:spcAft>
              <a:buSzPts val="1400"/>
              <a:buNone/>
              <a:defRPr sz="1400"/>
            </a:lvl1pPr>
          </a:lstStyle>
          <a:p/>
        </p:txBody>
      </p:sp>
      <p:sp>
        <p:nvSpPr>
          <p:cNvPr id="50" name="Google Shape;50;p10"/>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11"/>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53" name="Google Shape;53;p11"/>
          <p:cNvSpPr/>
          <p:nvPr/>
        </p:nvSpPr>
        <p:spPr>
          <a:xfrm>
            <a:off x="390735" y="379877"/>
            <a:ext cx="8362529" cy="4383746"/>
          </a:xfrm>
          <a:custGeom>
            <a:rect b="b" l="l" r="r" t="t"/>
            <a:pathLst>
              <a:path extrusionOk="0" fill="none" h="149667" w="285508">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cap="flat" cmpd="sng" w="19050">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olored">
  <p:cSld name="BLANK_1">
    <p:bg>
      <p:bgPr>
        <a:solidFill>
          <a:schemeClr val="accent1"/>
        </a:solidFill>
      </p:bgPr>
    </p:bg>
    <p:spTree>
      <p:nvGrpSpPr>
        <p:cNvPr id="54" name="Shape 54"/>
        <p:cNvGrpSpPr/>
        <p:nvPr/>
      </p:nvGrpSpPr>
      <p:grpSpPr>
        <a:xfrm>
          <a:off x="0" y="0"/>
          <a:ext cx="0" cy="0"/>
          <a:chOff x="0" y="0"/>
          <a:chExt cx="0" cy="0"/>
        </a:xfrm>
      </p:grpSpPr>
      <p:sp>
        <p:nvSpPr>
          <p:cNvPr id="55" name="Google Shape;55;p12"/>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
        <p:nvSpPr>
          <p:cNvPr id="56" name="Google Shape;56;p12"/>
          <p:cNvSpPr/>
          <p:nvPr/>
        </p:nvSpPr>
        <p:spPr>
          <a:xfrm>
            <a:off x="390735" y="379877"/>
            <a:ext cx="8362529" cy="4383746"/>
          </a:xfrm>
          <a:custGeom>
            <a:rect b="b" l="l" r="r" t="t"/>
            <a:pathLst>
              <a:path extrusionOk="0" fill="none" h="149667" w="285508">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cap="flat" cmpd="sng" w="19050">
            <a:solidFill>
              <a:schemeClr val="lt1"/>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922000" y="891775"/>
            <a:ext cx="6866100" cy="857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5800"/>
              <a:buFont typeface="Raleway ExtraBold"/>
              <a:buNone/>
              <a:defRPr sz="5800">
                <a:solidFill>
                  <a:schemeClr val="dk1"/>
                </a:solidFill>
                <a:latin typeface="Raleway ExtraBold"/>
                <a:ea typeface="Raleway ExtraBold"/>
                <a:cs typeface="Raleway ExtraBold"/>
                <a:sym typeface="Raleway ExtraBold"/>
              </a:defRPr>
            </a:lvl1pPr>
            <a:lvl2pPr lvl="1">
              <a:spcBef>
                <a:spcPts val="0"/>
              </a:spcBef>
              <a:spcAft>
                <a:spcPts val="0"/>
              </a:spcAft>
              <a:buClr>
                <a:schemeClr val="dk1"/>
              </a:buClr>
              <a:buSzPts val="5800"/>
              <a:buFont typeface="Raleway ExtraBold"/>
              <a:buNone/>
              <a:defRPr sz="5800">
                <a:solidFill>
                  <a:schemeClr val="dk1"/>
                </a:solidFill>
                <a:latin typeface="Raleway ExtraBold"/>
                <a:ea typeface="Raleway ExtraBold"/>
                <a:cs typeface="Raleway ExtraBold"/>
                <a:sym typeface="Raleway ExtraBold"/>
              </a:defRPr>
            </a:lvl2pPr>
            <a:lvl3pPr lvl="2">
              <a:spcBef>
                <a:spcPts val="0"/>
              </a:spcBef>
              <a:spcAft>
                <a:spcPts val="0"/>
              </a:spcAft>
              <a:buClr>
                <a:schemeClr val="dk1"/>
              </a:buClr>
              <a:buSzPts val="5800"/>
              <a:buFont typeface="Raleway ExtraBold"/>
              <a:buNone/>
              <a:defRPr sz="5800">
                <a:solidFill>
                  <a:schemeClr val="dk1"/>
                </a:solidFill>
                <a:latin typeface="Raleway ExtraBold"/>
                <a:ea typeface="Raleway ExtraBold"/>
                <a:cs typeface="Raleway ExtraBold"/>
                <a:sym typeface="Raleway ExtraBold"/>
              </a:defRPr>
            </a:lvl3pPr>
            <a:lvl4pPr lvl="3">
              <a:spcBef>
                <a:spcPts val="0"/>
              </a:spcBef>
              <a:spcAft>
                <a:spcPts val="0"/>
              </a:spcAft>
              <a:buClr>
                <a:schemeClr val="dk1"/>
              </a:buClr>
              <a:buSzPts val="5800"/>
              <a:buFont typeface="Raleway ExtraBold"/>
              <a:buNone/>
              <a:defRPr sz="5800">
                <a:solidFill>
                  <a:schemeClr val="dk1"/>
                </a:solidFill>
                <a:latin typeface="Raleway ExtraBold"/>
                <a:ea typeface="Raleway ExtraBold"/>
                <a:cs typeface="Raleway ExtraBold"/>
                <a:sym typeface="Raleway ExtraBold"/>
              </a:defRPr>
            </a:lvl4pPr>
            <a:lvl5pPr lvl="4">
              <a:spcBef>
                <a:spcPts val="0"/>
              </a:spcBef>
              <a:spcAft>
                <a:spcPts val="0"/>
              </a:spcAft>
              <a:buClr>
                <a:schemeClr val="dk1"/>
              </a:buClr>
              <a:buSzPts val="5800"/>
              <a:buFont typeface="Raleway ExtraBold"/>
              <a:buNone/>
              <a:defRPr sz="5800">
                <a:solidFill>
                  <a:schemeClr val="dk1"/>
                </a:solidFill>
                <a:latin typeface="Raleway ExtraBold"/>
                <a:ea typeface="Raleway ExtraBold"/>
                <a:cs typeface="Raleway ExtraBold"/>
                <a:sym typeface="Raleway ExtraBold"/>
              </a:defRPr>
            </a:lvl5pPr>
            <a:lvl6pPr lvl="5">
              <a:spcBef>
                <a:spcPts val="0"/>
              </a:spcBef>
              <a:spcAft>
                <a:spcPts val="0"/>
              </a:spcAft>
              <a:buClr>
                <a:schemeClr val="dk1"/>
              </a:buClr>
              <a:buSzPts val="5800"/>
              <a:buFont typeface="Raleway ExtraBold"/>
              <a:buNone/>
              <a:defRPr sz="5800">
                <a:solidFill>
                  <a:schemeClr val="dk1"/>
                </a:solidFill>
                <a:latin typeface="Raleway ExtraBold"/>
                <a:ea typeface="Raleway ExtraBold"/>
                <a:cs typeface="Raleway ExtraBold"/>
                <a:sym typeface="Raleway ExtraBold"/>
              </a:defRPr>
            </a:lvl6pPr>
            <a:lvl7pPr lvl="6">
              <a:spcBef>
                <a:spcPts val="0"/>
              </a:spcBef>
              <a:spcAft>
                <a:spcPts val="0"/>
              </a:spcAft>
              <a:buClr>
                <a:schemeClr val="dk1"/>
              </a:buClr>
              <a:buSzPts val="5800"/>
              <a:buFont typeface="Raleway ExtraBold"/>
              <a:buNone/>
              <a:defRPr sz="5800">
                <a:solidFill>
                  <a:schemeClr val="dk1"/>
                </a:solidFill>
                <a:latin typeface="Raleway ExtraBold"/>
                <a:ea typeface="Raleway ExtraBold"/>
                <a:cs typeface="Raleway ExtraBold"/>
                <a:sym typeface="Raleway ExtraBold"/>
              </a:defRPr>
            </a:lvl7pPr>
            <a:lvl8pPr lvl="7">
              <a:spcBef>
                <a:spcPts val="0"/>
              </a:spcBef>
              <a:spcAft>
                <a:spcPts val="0"/>
              </a:spcAft>
              <a:buClr>
                <a:schemeClr val="dk1"/>
              </a:buClr>
              <a:buSzPts val="5800"/>
              <a:buFont typeface="Raleway ExtraBold"/>
              <a:buNone/>
              <a:defRPr sz="5800">
                <a:solidFill>
                  <a:schemeClr val="dk1"/>
                </a:solidFill>
                <a:latin typeface="Raleway ExtraBold"/>
                <a:ea typeface="Raleway ExtraBold"/>
                <a:cs typeface="Raleway ExtraBold"/>
                <a:sym typeface="Raleway ExtraBold"/>
              </a:defRPr>
            </a:lvl8pPr>
            <a:lvl9pPr lvl="8">
              <a:spcBef>
                <a:spcPts val="0"/>
              </a:spcBef>
              <a:spcAft>
                <a:spcPts val="0"/>
              </a:spcAft>
              <a:buClr>
                <a:schemeClr val="dk1"/>
              </a:buClr>
              <a:buSzPts val="5800"/>
              <a:buFont typeface="Raleway ExtraBold"/>
              <a:buNone/>
              <a:defRPr sz="5800">
                <a:solidFill>
                  <a:schemeClr val="dk1"/>
                </a:solidFill>
                <a:latin typeface="Raleway ExtraBold"/>
                <a:ea typeface="Raleway ExtraBold"/>
                <a:cs typeface="Raleway ExtraBold"/>
                <a:sym typeface="Raleway ExtraBold"/>
              </a:defRPr>
            </a:lvl9pPr>
          </a:lstStyle>
          <a:p/>
        </p:txBody>
      </p:sp>
      <p:sp>
        <p:nvSpPr>
          <p:cNvPr id="7" name="Google Shape;7;p1"/>
          <p:cNvSpPr txBox="1"/>
          <p:nvPr>
            <p:ph idx="1" type="body"/>
          </p:nvPr>
        </p:nvSpPr>
        <p:spPr>
          <a:xfrm>
            <a:off x="922000" y="1885951"/>
            <a:ext cx="6866100" cy="2366100"/>
          </a:xfrm>
          <a:prstGeom prst="rect">
            <a:avLst/>
          </a:prstGeom>
          <a:noFill/>
          <a:ln>
            <a:noFill/>
          </a:ln>
        </p:spPr>
        <p:txBody>
          <a:bodyPr anchorCtr="0" anchor="t" bIns="91425" lIns="91425" spcFirstLastPara="1" rIns="91425" wrap="square" tIns="91425">
            <a:noAutofit/>
          </a:bodyPr>
          <a:lstStyle>
            <a:lvl1pPr indent="-342900" lvl="0" marL="457200">
              <a:spcBef>
                <a:spcPts val="600"/>
              </a:spcBef>
              <a:spcAft>
                <a:spcPts val="0"/>
              </a:spcAft>
              <a:buClr>
                <a:schemeClr val="accent1"/>
              </a:buClr>
              <a:buSzPts val="1800"/>
              <a:buFont typeface="Raleway Light"/>
              <a:buChar char="●"/>
              <a:defRPr sz="1800">
                <a:solidFill>
                  <a:schemeClr val="dk2"/>
                </a:solidFill>
                <a:latin typeface="Raleway Light"/>
                <a:ea typeface="Raleway Light"/>
                <a:cs typeface="Raleway Light"/>
                <a:sym typeface="Raleway Light"/>
              </a:defRPr>
            </a:lvl1pPr>
            <a:lvl2pPr indent="-342900" lvl="1" marL="914400">
              <a:spcBef>
                <a:spcPts val="0"/>
              </a:spcBef>
              <a:spcAft>
                <a:spcPts val="0"/>
              </a:spcAft>
              <a:buClr>
                <a:schemeClr val="accent1"/>
              </a:buClr>
              <a:buSzPts val="1800"/>
              <a:buFont typeface="Raleway Light"/>
              <a:buChar char="○"/>
              <a:defRPr sz="1800">
                <a:solidFill>
                  <a:schemeClr val="dk2"/>
                </a:solidFill>
                <a:latin typeface="Raleway Light"/>
                <a:ea typeface="Raleway Light"/>
                <a:cs typeface="Raleway Light"/>
                <a:sym typeface="Raleway Light"/>
              </a:defRPr>
            </a:lvl2pPr>
            <a:lvl3pPr indent="-342900" lvl="2" marL="1371600">
              <a:spcBef>
                <a:spcPts val="0"/>
              </a:spcBef>
              <a:spcAft>
                <a:spcPts val="0"/>
              </a:spcAft>
              <a:buClr>
                <a:schemeClr val="accent1"/>
              </a:buClr>
              <a:buSzPts val="1800"/>
              <a:buFont typeface="Raleway Light"/>
              <a:buChar char="■"/>
              <a:defRPr sz="1800">
                <a:solidFill>
                  <a:schemeClr val="dk2"/>
                </a:solidFill>
                <a:latin typeface="Raleway Light"/>
                <a:ea typeface="Raleway Light"/>
                <a:cs typeface="Raleway Light"/>
                <a:sym typeface="Raleway Light"/>
              </a:defRPr>
            </a:lvl3pPr>
            <a:lvl4pPr indent="-342900" lvl="3" marL="1828800">
              <a:spcBef>
                <a:spcPts val="0"/>
              </a:spcBef>
              <a:spcAft>
                <a:spcPts val="0"/>
              </a:spcAft>
              <a:buClr>
                <a:schemeClr val="dk2"/>
              </a:buClr>
              <a:buSzPts val="1800"/>
              <a:buFont typeface="Raleway Light"/>
              <a:buChar char="●"/>
              <a:defRPr sz="1800">
                <a:solidFill>
                  <a:schemeClr val="dk2"/>
                </a:solidFill>
                <a:latin typeface="Raleway Light"/>
                <a:ea typeface="Raleway Light"/>
                <a:cs typeface="Raleway Light"/>
                <a:sym typeface="Raleway Light"/>
              </a:defRPr>
            </a:lvl4pPr>
            <a:lvl5pPr indent="-342900" lvl="4" marL="2286000">
              <a:spcBef>
                <a:spcPts val="0"/>
              </a:spcBef>
              <a:spcAft>
                <a:spcPts val="0"/>
              </a:spcAft>
              <a:buClr>
                <a:schemeClr val="dk2"/>
              </a:buClr>
              <a:buSzPts val="1800"/>
              <a:buFont typeface="Raleway Light"/>
              <a:buChar char="○"/>
              <a:defRPr sz="1800">
                <a:solidFill>
                  <a:schemeClr val="dk2"/>
                </a:solidFill>
                <a:latin typeface="Raleway Light"/>
                <a:ea typeface="Raleway Light"/>
                <a:cs typeface="Raleway Light"/>
                <a:sym typeface="Raleway Light"/>
              </a:defRPr>
            </a:lvl5pPr>
            <a:lvl6pPr indent="-342900" lvl="5" marL="2743200">
              <a:spcBef>
                <a:spcPts val="0"/>
              </a:spcBef>
              <a:spcAft>
                <a:spcPts val="0"/>
              </a:spcAft>
              <a:buClr>
                <a:schemeClr val="dk2"/>
              </a:buClr>
              <a:buSzPts val="1800"/>
              <a:buFont typeface="Raleway Light"/>
              <a:buChar char="■"/>
              <a:defRPr sz="1800">
                <a:solidFill>
                  <a:schemeClr val="dk2"/>
                </a:solidFill>
                <a:latin typeface="Raleway Light"/>
                <a:ea typeface="Raleway Light"/>
                <a:cs typeface="Raleway Light"/>
                <a:sym typeface="Raleway Light"/>
              </a:defRPr>
            </a:lvl6pPr>
            <a:lvl7pPr indent="-342900" lvl="6" marL="3200400">
              <a:spcBef>
                <a:spcPts val="0"/>
              </a:spcBef>
              <a:spcAft>
                <a:spcPts val="0"/>
              </a:spcAft>
              <a:buClr>
                <a:schemeClr val="dk2"/>
              </a:buClr>
              <a:buSzPts val="1800"/>
              <a:buFont typeface="Raleway Light"/>
              <a:buChar char="●"/>
              <a:defRPr sz="1800">
                <a:solidFill>
                  <a:schemeClr val="dk2"/>
                </a:solidFill>
                <a:latin typeface="Raleway Light"/>
                <a:ea typeface="Raleway Light"/>
                <a:cs typeface="Raleway Light"/>
                <a:sym typeface="Raleway Light"/>
              </a:defRPr>
            </a:lvl7pPr>
            <a:lvl8pPr indent="-342900" lvl="7" marL="3657600">
              <a:spcBef>
                <a:spcPts val="0"/>
              </a:spcBef>
              <a:spcAft>
                <a:spcPts val="0"/>
              </a:spcAft>
              <a:buClr>
                <a:schemeClr val="dk2"/>
              </a:buClr>
              <a:buSzPts val="1800"/>
              <a:buFont typeface="Raleway Light"/>
              <a:buChar char="○"/>
              <a:defRPr sz="1800">
                <a:solidFill>
                  <a:schemeClr val="dk2"/>
                </a:solidFill>
                <a:latin typeface="Raleway Light"/>
                <a:ea typeface="Raleway Light"/>
                <a:cs typeface="Raleway Light"/>
                <a:sym typeface="Raleway Light"/>
              </a:defRPr>
            </a:lvl8pPr>
            <a:lvl9pPr indent="-342900" lvl="8" marL="4114800">
              <a:spcBef>
                <a:spcPts val="0"/>
              </a:spcBef>
              <a:spcAft>
                <a:spcPts val="0"/>
              </a:spcAft>
              <a:buClr>
                <a:schemeClr val="dk2"/>
              </a:buClr>
              <a:buSzPts val="1800"/>
              <a:buFont typeface="Raleway Light"/>
              <a:buChar char="■"/>
              <a:defRPr sz="1800">
                <a:solidFill>
                  <a:schemeClr val="dk2"/>
                </a:solidFill>
                <a:latin typeface="Raleway Light"/>
                <a:ea typeface="Raleway Light"/>
                <a:cs typeface="Raleway Light"/>
                <a:sym typeface="Raleway Light"/>
              </a:defRPr>
            </a:lvl9pPr>
          </a:lstStyle>
          <a:p/>
        </p:txBody>
      </p:sp>
      <p:sp>
        <p:nvSpPr>
          <p:cNvPr id="8" name="Google Shape;8;p1"/>
          <p:cNvSpPr txBox="1"/>
          <p:nvPr>
            <p:ph idx="12" type="sldNum"/>
          </p:nvPr>
        </p:nvSpPr>
        <p:spPr>
          <a:xfrm>
            <a:off x="8604400" y="4590300"/>
            <a:ext cx="539700" cy="553200"/>
          </a:xfrm>
          <a:prstGeom prst="rect">
            <a:avLst/>
          </a:prstGeom>
          <a:noFill/>
          <a:ln>
            <a:noFill/>
          </a:ln>
        </p:spPr>
        <p:txBody>
          <a:bodyPr anchorCtr="0" anchor="ctr" bIns="91425" lIns="91425" spcFirstLastPara="1" rIns="91425" wrap="square" tIns="91425">
            <a:noAutofit/>
          </a:bodyPr>
          <a:lstStyle>
            <a:lvl1pPr lvl="0" algn="ctr">
              <a:buNone/>
              <a:defRPr sz="1300">
                <a:solidFill>
                  <a:schemeClr val="accent1"/>
                </a:solidFill>
                <a:latin typeface="Raleway ExtraBold"/>
                <a:ea typeface="Raleway ExtraBold"/>
                <a:cs typeface="Raleway ExtraBold"/>
                <a:sym typeface="Raleway ExtraBold"/>
              </a:defRPr>
            </a:lvl1pPr>
            <a:lvl2pPr lvl="1" algn="ctr">
              <a:buNone/>
              <a:defRPr sz="1300">
                <a:solidFill>
                  <a:schemeClr val="accent1"/>
                </a:solidFill>
                <a:latin typeface="Raleway ExtraBold"/>
                <a:ea typeface="Raleway ExtraBold"/>
                <a:cs typeface="Raleway ExtraBold"/>
                <a:sym typeface="Raleway ExtraBold"/>
              </a:defRPr>
            </a:lvl2pPr>
            <a:lvl3pPr lvl="2" algn="ctr">
              <a:buNone/>
              <a:defRPr sz="1300">
                <a:solidFill>
                  <a:schemeClr val="accent1"/>
                </a:solidFill>
                <a:latin typeface="Raleway ExtraBold"/>
                <a:ea typeface="Raleway ExtraBold"/>
                <a:cs typeface="Raleway ExtraBold"/>
                <a:sym typeface="Raleway ExtraBold"/>
              </a:defRPr>
            </a:lvl3pPr>
            <a:lvl4pPr lvl="3" algn="ctr">
              <a:buNone/>
              <a:defRPr sz="1300">
                <a:solidFill>
                  <a:schemeClr val="accent1"/>
                </a:solidFill>
                <a:latin typeface="Raleway ExtraBold"/>
                <a:ea typeface="Raleway ExtraBold"/>
                <a:cs typeface="Raleway ExtraBold"/>
                <a:sym typeface="Raleway ExtraBold"/>
              </a:defRPr>
            </a:lvl4pPr>
            <a:lvl5pPr lvl="4" algn="ctr">
              <a:buNone/>
              <a:defRPr sz="1300">
                <a:solidFill>
                  <a:schemeClr val="accent1"/>
                </a:solidFill>
                <a:latin typeface="Raleway ExtraBold"/>
                <a:ea typeface="Raleway ExtraBold"/>
                <a:cs typeface="Raleway ExtraBold"/>
                <a:sym typeface="Raleway ExtraBold"/>
              </a:defRPr>
            </a:lvl5pPr>
            <a:lvl6pPr lvl="5" algn="ctr">
              <a:buNone/>
              <a:defRPr sz="1300">
                <a:solidFill>
                  <a:schemeClr val="accent1"/>
                </a:solidFill>
                <a:latin typeface="Raleway ExtraBold"/>
                <a:ea typeface="Raleway ExtraBold"/>
                <a:cs typeface="Raleway ExtraBold"/>
                <a:sym typeface="Raleway ExtraBold"/>
              </a:defRPr>
            </a:lvl6pPr>
            <a:lvl7pPr lvl="6" algn="ctr">
              <a:buNone/>
              <a:defRPr sz="1300">
                <a:solidFill>
                  <a:schemeClr val="accent1"/>
                </a:solidFill>
                <a:latin typeface="Raleway ExtraBold"/>
                <a:ea typeface="Raleway ExtraBold"/>
                <a:cs typeface="Raleway ExtraBold"/>
                <a:sym typeface="Raleway ExtraBold"/>
              </a:defRPr>
            </a:lvl7pPr>
            <a:lvl8pPr lvl="7" algn="ctr">
              <a:buNone/>
              <a:defRPr sz="1300">
                <a:solidFill>
                  <a:schemeClr val="accent1"/>
                </a:solidFill>
                <a:latin typeface="Raleway ExtraBold"/>
                <a:ea typeface="Raleway ExtraBold"/>
                <a:cs typeface="Raleway ExtraBold"/>
                <a:sym typeface="Raleway ExtraBold"/>
              </a:defRPr>
            </a:lvl8pPr>
            <a:lvl9pPr lvl="8" algn="ctr">
              <a:buNone/>
              <a:defRPr sz="1300">
                <a:solidFill>
                  <a:schemeClr val="accent1"/>
                </a:solidFill>
                <a:latin typeface="Raleway ExtraBold"/>
                <a:ea typeface="Raleway ExtraBold"/>
                <a:cs typeface="Raleway ExtraBold"/>
                <a:sym typeface="Raleway ExtraBold"/>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3"/>
          <p:cNvSpPr txBox="1"/>
          <p:nvPr/>
        </p:nvSpPr>
        <p:spPr>
          <a:xfrm flipH="1">
            <a:off x="874300" y="978525"/>
            <a:ext cx="7640400" cy="227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chemeClr val="dk2"/>
                </a:solidFill>
                <a:latin typeface="Raleway"/>
                <a:ea typeface="Raleway"/>
                <a:cs typeface="Raleway"/>
                <a:sym typeface="Raleway"/>
              </a:rPr>
              <a:t>Sri Venkateswara College of engineering and technology</a:t>
            </a:r>
            <a:endParaRPr b="1" sz="1700">
              <a:solidFill>
                <a:schemeClr val="dk2"/>
              </a:solidFill>
              <a:latin typeface="Raleway"/>
              <a:ea typeface="Raleway"/>
              <a:cs typeface="Raleway"/>
              <a:sym typeface="Raleway"/>
            </a:endParaRPr>
          </a:p>
          <a:p>
            <a:pPr indent="0" lvl="0" marL="0" rtl="0" algn="ctr">
              <a:spcBef>
                <a:spcPts val="0"/>
              </a:spcBef>
              <a:spcAft>
                <a:spcPts val="0"/>
              </a:spcAft>
              <a:buNone/>
            </a:pPr>
            <a:r>
              <a:rPr b="1" lang="en" sz="1700">
                <a:solidFill>
                  <a:schemeClr val="dk2"/>
                </a:solidFill>
                <a:latin typeface="Raleway"/>
                <a:ea typeface="Raleway"/>
                <a:cs typeface="Raleway"/>
                <a:sym typeface="Raleway"/>
              </a:rPr>
              <a:t>(Automomous)</a:t>
            </a:r>
            <a:endParaRPr b="1" sz="1700">
              <a:solidFill>
                <a:schemeClr val="dk2"/>
              </a:solidFill>
              <a:latin typeface="Raleway"/>
              <a:ea typeface="Raleway"/>
              <a:cs typeface="Raleway"/>
              <a:sym typeface="Raleway"/>
            </a:endParaRPr>
          </a:p>
          <a:p>
            <a:pPr indent="0" lvl="0" marL="0" rtl="0" algn="ctr">
              <a:spcBef>
                <a:spcPts val="0"/>
              </a:spcBef>
              <a:spcAft>
                <a:spcPts val="0"/>
              </a:spcAft>
              <a:buNone/>
            </a:pPr>
            <a:r>
              <a:rPr b="1" lang="en" sz="1700">
                <a:solidFill>
                  <a:schemeClr val="dk2"/>
                </a:solidFill>
                <a:latin typeface="Raleway"/>
                <a:ea typeface="Raleway"/>
                <a:cs typeface="Raleway"/>
                <a:sym typeface="Raleway"/>
              </a:rPr>
              <a:t>R.V.S Nagar, Chittoor-517 127.(A.P)</a:t>
            </a:r>
            <a:endParaRPr b="1" sz="1700">
              <a:solidFill>
                <a:schemeClr val="dk2"/>
              </a:solidFill>
              <a:latin typeface="Raleway"/>
              <a:ea typeface="Raleway"/>
              <a:cs typeface="Raleway"/>
              <a:sym typeface="Raleway"/>
            </a:endParaRPr>
          </a:p>
          <a:p>
            <a:pPr indent="0" lvl="0" marL="0" rtl="0" algn="ctr">
              <a:spcBef>
                <a:spcPts val="0"/>
              </a:spcBef>
              <a:spcAft>
                <a:spcPts val="0"/>
              </a:spcAft>
              <a:buNone/>
            </a:pPr>
            <a:r>
              <a:rPr b="1" lang="en" sz="1700">
                <a:solidFill>
                  <a:schemeClr val="dk2"/>
                </a:solidFill>
                <a:latin typeface="Raleway"/>
                <a:ea typeface="Raleway"/>
                <a:cs typeface="Raleway"/>
                <a:sym typeface="Raleway"/>
              </a:rPr>
              <a:t>B.Tecg - Computer Science and engineering(AI&amp;ML)</a:t>
            </a:r>
            <a:endParaRPr b="1" sz="1700">
              <a:solidFill>
                <a:schemeClr val="dk2"/>
              </a:solidFill>
              <a:latin typeface="Raleway"/>
              <a:ea typeface="Raleway"/>
              <a:cs typeface="Raleway"/>
              <a:sym typeface="Raleway"/>
            </a:endParaRPr>
          </a:p>
          <a:p>
            <a:pPr indent="0" lvl="0" marL="0" rtl="0" algn="ctr">
              <a:spcBef>
                <a:spcPts val="0"/>
              </a:spcBef>
              <a:spcAft>
                <a:spcPts val="0"/>
              </a:spcAft>
              <a:buNone/>
            </a:pPr>
            <a:r>
              <a:rPr b="1" lang="en" sz="1700">
                <a:solidFill>
                  <a:schemeClr val="dk2"/>
                </a:solidFill>
                <a:latin typeface="Raleway"/>
                <a:ea typeface="Raleway"/>
                <a:cs typeface="Raleway"/>
                <a:sym typeface="Raleway"/>
              </a:rPr>
              <a:t>Academic Year:2025-2026</a:t>
            </a:r>
            <a:endParaRPr b="1" sz="1700">
              <a:solidFill>
                <a:schemeClr val="dk2"/>
              </a:solidFill>
              <a:latin typeface="Raleway"/>
              <a:ea typeface="Raleway"/>
              <a:cs typeface="Raleway"/>
              <a:sym typeface="Raleway"/>
            </a:endParaRPr>
          </a:p>
          <a:p>
            <a:pPr indent="0" lvl="0" marL="0" rtl="0" algn="ctr">
              <a:spcBef>
                <a:spcPts val="0"/>
              </a:spcBef>
              <a:spcAft>
                <a:spcPts val="0"/>
              </a:spcAft>
              <a:buNone/>
            </a:pPr>
            <a:r>
              <a:rPr b="1" lang="en" sz="1700">
                <a:solidFill>
                  <a:schemeClr val="dk2"/>
                </a:solidFill>
                <a:latin typeface="Raleway"/>
                <a:ea typeface="Raleway"/>
                <a:cs typeface="Raleway"/>
                <a:sym typeface="Raleway"/>
              </a:rPr>
              <a:t>Project Title:</a:t>
            </a:r>
            <a:endParaRPr b="1" sz="1700">
              <a:solidFill>
                <a:schemeClr val="dk2"/>
              </a:solidFill>
              <a:latin typeface="Raleway"/>
              <a:ea typeface="Raleway"/>
              <a:cs typeface="Raleway"/>
              <a:sym typeface="Raleway"/>
            </a:endParaRPr>
          </a:p>
          <a:p>
            <a:pPr indent="0" lvl="0" marL="0" rtl="0" algn="ctr">
              <a:spcBef>
                <a:spcPts val="0"/>
              </a:spcBef>
              <a:spcAft>
                <a:spcPts val="0"/>
              </a:spcAft>
              <a:buNone/>
            </a:pPr>
            <a:r>
              <a:rPr b="1" lang="en" sz="1700">
                <a:solidFill>
                  <a:schemeClr val="dk2"/>
                </a:solidFill>
                <a:latin typeface="Raleway"/>
                <a:ea typeface="Raleway"/>
                <a:cs typeface="Raleway"/>
                <a:sym typeface="Raleway"/>
              </a:rPr>
              <a:t>AI POWERED CAREER INTELLIGENCE</a:t>
            </a:r>
            <a:endParaRPr b="1" sz="1700">
              <a:solidFill>
                <a:schemeClr val="dk2"/>
              </a:solidFill>
              <a:latin typeface="Raleway"/>
              <a:ea typeface="Raleway"/>
              <a:cs typeface="Raleway"/>
              <a:sym typeface="Raleway"/>
            </a:endParaRPr>
          </a:p>
          <a:p>
            <a:pPr indent="0" lvl="0" marL="0" rtl="0" algn="ctr">
              <a:spcBef>
                <a:spcPts val="0"/>
              </a:spcBef>
              <a:spcAft>
                <a:spcPts val="0"/>
              </a:spcAft>
              <a:buNone/>
            </a:pPr>
            <a:r>
              <a:t/>
            </a:r>
            <a:endParaRPr sz="1700">
              <a:solidFill>
                <a:schemeClr val="dk2"/>
              </a:solidFill>
              <a:latin typeface="Raleway Light"/>
              <a:ea typeface="Raleway Light"/>
              <a:cs typeface="Raleway Light"/>
              <a:sym typeface="Raleway Light"/>
            </a:endParaRPr>
          </a:p>
        </p:txBody>
      </p:sp>
      <p:sp>
        <p:nvSpPr>
          <p:cNvPr id="62" name="Google Shape;62;p13"/>
          <p:cNvSpPr txBox="1"/>
          <p:nvPr/>
        </p:nvSpPr>
        <p:spPr>
          <a:xfrm flipH="1" rot="319">
            <a:off x="5451200" y="3192671"/>
            <a:ext cx="32298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latin typeface="Raleway Light"/>
                <a:ea typeface="Raleway Light"/>
                <a:cs typeface="Raleway Light"/>
                <a:sym typeface="Raleway Light"/>
              </a:rPr>
              <a:t>By: M.Vani(22781A3387)</a:t>
            </a:r>
            <a:endParaRPr sz="1600">
              <a:solidFill>
                <a:schemeClr val="dk2"/>
              </a:solidFill>
              <a:latin typeface="Raleway Light"/>
              <a:ea typeface="Raleway Light"/>
              <a:cs typeface="Raleway Light"/>
              <a:sym typeface="Raleway Light"/>
            </a:endParaRPr>
          </a:p>
          <a:p>
            <a:pPr indent="0" lvl="0" marL="0" rtl="0" algn="l">
              <a:spcBef>
                <a:spcPts val="0"/>
              </a:spcBef>
              <a:spcAft>
                <a:spcPts val="0"/>
              </a:spcAft>
              <a:buNone/>
            </a:pPr>
            <a:r>
              <a:rPr lang="en" sz="1600">
                <a:solidFill>
                  <a:schemeClr val="dk2"/>
                </a:solidFill>
                <a:latin typeface="Raleway Light"/>
                <a:ea typeface="Raleway Light"/>
                <a:cs typeface="Raleway Light"/>
                <a:sym typeface="Raleway Light"/>
              </a:rPr>
              <a:t>P.Yaswitha(22781A33A0)</a:t>
            </a:r>
            <a:endParaRPr sz="1600">
              <a:solidFill>
                <a:schemeClr val="dk2"/>
              </a:solidFill>
              <a:latin typeface="Raleway Light"/>
              <a:ea typeface="Raleway Light"/>
              <a:cs typeface="Raleway Light"/>
              <a:sym typeface="Raleway Light"/>
            </a:endParaRPr>
          </a:p>
          <a:p>
            <a:pPr indent="0" lvl="0" marL="0" rtl="0" algn="l">
              <a:spcBef>
                <a:spcPts val="0"/>
              </a:spcBef>
              <a:spcAft>
                <a:spcPts val="0"/>
              </a:spcAft>
              <a:buNone/>
            </a:pPr>
            <a:r>
              <a:rPr lang="en" sz="1600">
                <a:solidFill>
                  <a:schemeClr val="dk2"/>
                </a:solidFill>
                <a:latin typeface="Raleway Light"/>
                <a:ea typeface="Raleway Light"/>
                <a:cs typeface="Raleway Light"/>
                <a:sym typeface="Raleway Light"/>
              </a:rPr>
              <a:t>S.Govardhan Reddy</a:t>
            </a:r>
            <a:r>
              <a:rPr lang="en" sz="1600">
                <a:solidFill>
                  <a:schemeClr val="dk2"/>
                </a:solidFill>
                <a:latin typeface="Raleway Light"/>
                <a:ea typeface="Raleway Light"/>
                <a:cs typeface="Raleway Light"/>
                <a:sym typeface="Raleway Light"/>
              </a:rPr>
              <a:t>(22781A33B3)</a:t>
            </a:r>
            <a:endParaRPr sz="1600">
              <a:solidFill>
                <a:schemeClr val="dk2"/>
              </a:solidFill>
              <a:latin typeface="Raleway Light"/>
              <a:ea typeface="Raleway Light"/>
              <a:cs typeface="Raleway Light"/>
              <a:sym typeface="Raleway Light"/>
            </a:endParaRPr>
          </a:p>
          <a:p>
            <a:pPr indent="0" lvl="0" marL="0" rtl="0" algn="l">
              <a:spcBef>
                <a:spcPts val="0"/>
              </a:spcBef>
              <a:spcAft>
                <a:spcPts val="0"/>
              </a:spcAft>
              <a:buNone/>
            </a:pPr>
            <a:r>
              <a:rPr lang="en" sz="1600">
                <a:solidFill>
                  <a:schemeClr val="dk2"/>
                </a:solidFill>
                <a:latin typeface="Raleway Light"/>
                <a:ea typeface="Raleway Light"/>
                <a:cs typeface="Raleway Light"/>
                <a:sym typeface="Raleway Light"/>
              </a:rPr>
              <a:t>T.Brahmaiah(22781A33D0)</a:t>
            </a:r>
            <a:endParaRPr sz="1600">
              <a:solidFill>
                <a:schemeClr val="dk2"/>
              </a:solidFill>
              <a:latin typeface="Raleway Light"/>
              <a:ea typeface="Raleway Light"/>
              <a:cs typeface="Raleway Light"/>
              <a:sym typeface="Raleway Light"/>
            </a:endParaRPr>
          </a:p>
          <a:p>
            <a:pPr indent="0" lvl="0" marL="0" rtl="0" algn="l">
              <a:spcBef>
                <a:spcPts val="0"/>
              </a:spcBef>
              <a:spcAft>
                <a:spcPts val="0"/>
              </a:spcAft>
              <a:buNone/>
            </a:pPr>
            <a:r>
              <a:rPr lang="en" sz="1600">
                <a:solidFill>
                  <a:schemeClr val="dk2"/>
                </a:solidFill>
                <a:latin typeface="Raleway Light"/>
                <a:ea typeface="Raleway Light"/>
                <a:cs typeface="Raleway Light"/>
                <a:sym typeface="Raleway Light"/>
              </a:rPr>
              <a:t>P.Sudheer(23785A3316)</a:t>
            </a:r>
            <a:endParaRPr sz="1600">
              <a:solidFill>
                <a:schemeClr val="dk2"/>
              </a:solidFill>
              <a:latin typeface="Raleway Light"/>
              <a:ea typeface="Raleway Light"/>
              <a:cs typeface="Raleway Light"/>
              <a:sym typeface="Raleway Light"/>
            </a:endParaRPr>
          </a:p>
        </p:txBody>
      </p:sp>
      <p:sp>
        <p:nvSpPr>
          <p:cNvPr id="63" name="Google Shape;63;p13"/>
          <p:cNvSpPr txBox="1"/>
          <p:nvPr/>
        </p:nvSpPr>
        <p:spPr>
          <a:xfrm>
            <a:off x="517100" y="3417675"/>
            <a:ext cx="4466100" cy="10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aleway Light"/>
                <a:ea typeface="Raleway Light"/>
                <a:cs typeface="Raleway Light"/>
                <a:sym typeface="Raleway Light"/>
              </a:rPr>
              <a:t>Submitted By:</a:t>
            </a:r>
            <a:endParaRPr sz="1800">
              <a:solidFill>
                <a:schemeClr val="dk2"/>
              </a:solidFill>
              <a:latin typeface="Raleway Light"/>
              <a:ea typeface="Raleway Light"/>
              <a:cs typeface="Raleway Light"/>
              <a:sym typeface="Raleway Light"/>
            </a:endParaRPr>
          </a:p>
          <a:p>
            <a:pPr indent="0" lvl="0" marL="0" rtl="0" algn="l">
              <a:spcBef>
                <a:spcPts val="0"/>
              </a:spcBef>
              <a:spcAft>
                <a:spcPts val="0"/>
              </a:spcAft>
              <a:buNone/>
            </a:pPr>
            <a:r>
              <a:rPr lang="en" sz="1800">
                <a:solidFill>
                  <a:schemeClr val="dk2"/>
                </a:solidFill>
                <a:latin typeface="Raleway Light"/>
                <a:ea typeface="Raleway Light"/>
                <a:cs typeface="Raleway Light"/>
                <a:sym typeface="Raleway Light"/>
              </a:rPr>
              <a:t>Under the Guidance of</a:t>
            </a:r>
            <a:endParaRPr sz="1800">
              <a:solidFill>
                <a:schemeClr val="dk2"/>
              </a:solidFill>
              <a:latin typeface="Raleway Light"/>
              <a:ea typeface="Raleway Light"/>
              <a:cs typeface="Raleway Light"/>
              <a:sym typeface="Raleway Light"/>
            </a:endParaRPr>
          </a:p>
          <a:p>
            <a:pPr indent="0" lvl="0" marL="0" rtl="0" algn="l">
              <a:spcBef>
                <a:spcPts val="0"/>
              </a:spcBef>
              <a:spcAft>
                <a:spcPts val="0"/>
              </a:spcAft>
              <a:buNone/>
            </a:pPr>
            <a:r>
              <a:rPr lang="en" sz="1800">
                <a:solidFill>
                  <a:schemeClr val="dk2"/>
                </a:solidFill>
                <a:latin typeface="Raleway Light"/>
                <a:ea typeface="Raleway Light"/>
                <a:cs typeface="Raleway Light"/>
                <a:sym typeface="Raleway Light"/>
              </a:rPr>
              <a:t>Dr.M.Layanya(Department of CSE(AI&amp;ML)</a:t>
            </a:r>
            <a:endParaRPr sz="1800">
              <a:solidFill>
                <a:schemeClr val="dk2"/>
              </a:solidFill>
              <a:latin typeface="Raleway Light"/>
              <a:ea typeface="Raleway Light"/>
              <a:cs typeface="Raleway Light"/>
              <a:sym typeface="Raleway Light"/>
            </a:endParaRPr>
          </a:p>
        </p:txBody>
      </p:sp>
      <p:grpSp>
        <p:nvGrpSpPr>
          <p:cNvPr id="64" name="Google Shape;64;p13"/>
          <p:cNvGrpSpPr/>
          <p:nvPr/>
        </p:nvGrpSpPr>
        <p:grpSpPr>
          <a:xfrm>
            <a:off x="7864658" y="371176"/>
            <a:ext cx="896264" cy="896314"/>
            <a:chOff x="570875" y="4322250"/>
            <a:chExt cx="443300" cy="443325"/>
          </a:xfrm>
        </p:grpSpPr>
        <p:sp>
          <p:nvSpPr>
            <p:cNvPr id="65" name="Google Shape;65;p13"/>
            <p:cNvSpPr/>
            <p:nvPr/>
          </p:nvSpPr>
          <p:spPr>
            <a:xfrm>
              <a:off x="570875" y="4322250"/>
              <a:ext cx="443300" cy="443325"/>
            </a:xfrm>
            <a:custGeom>
              <a:rect b="b" l="l" r="r" t="t"/>
              <a:pathLst>
                <a:path extrusionOk="0" h="17733" w="17732">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p:nvPr/>
          </p:nvSpPr>
          <p:spPr>
            <a:xfrm>
              <a:off x="597725" y="4665400"/>
              <a:ext cx="73300" cy="73300"/>
            </a:xfrm>
            <a:custGeom>
              <a:rect b="b" l="l" r="r" t="t"/>
              <a:pathLst>
                <a:path extrusionOk="0" h="2932" w="2932">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3"/>
            <p:cNvSpPr/>
            <p:nvPr/>
          </p:nvSpPr>
          <p:spPr>
            <a:xfrm>
              <a:off x="654525" y="4708150"/>
              <a:ext cx="47025" cy="47025"/>
            </a:xfrm>
            <a:custGeom>
              <a:rect b="b" l="l" r="r" t="t"/>
              <a:pathLst>
                <a:path extrusionOk="0" h="1881" w="1881">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3"/>
            <p:cNvSpPr/>
            <p:nvPr/>
          </p:nvSpPr>
          <p:spPr>
            <a:xfrm>
              <a:off x="581250" y="4634875"/>
              <a:ext cx="47050" cy="47050"/>
            </a:xfrm>
            <a:custGeom>
              <a:rect b="b" l="l" r="r" t="t"/>
              <a:pathLst>
                <a:path extrusionOk="0" h="1882" w="1882">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9" name="Google Shape;69;p13" title="logo skajfkjdsjf.jpeg"/>
          <p:cNvPicPr preferRelativeResize="0"/>
          <p:nvPr/>
        </p:nvPicPr>
        <p:blipFill>
          <a:blip r:embed="rId4">
            <a:alphaModFix/>
          </a:blip>
          <a:stretch>
            <a:fillRect/>
          </a:stretch>
        </p:blipFill>
        <p:spPr>
          <a:xfrm>
            <a:off x="517099" y="627325"/>
            <a:ext cx="1177450" cy="1258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grpSp>
        <p:nvGrpSpPr>
          <p:cNvPr id="75" name="Google Shape;75;p14"/>
          <p:cNvGrpSpPr/>
          <p:nvPr/>
        </p:nvGrpSpPr>
        <p:grpSpPr>
          <a:xfrm>
            <a:off x="8087089" y="356400"/>
            <a:ext cx="618316" cy="748360"/>
            <a:chOff x="584925" y="922575"/>
            <a:chExt cx="415200" cy="502525"/>
          </a:xfrm>
        </p:grpSpPr>
        <p:sp>
          <p:nvSpPr>
            <p:cNvPr id="76" name="Google Shape;76;p14"/>
            <p:cNvSpPr/>
            <p:nvPr/>
          </p:nvSpPr>
          <p:spPr>
            <a:xfrm>
              <a:off x="584925" y="961025"/>
              <a:ext cx="378575" cy="464075"/>
            </a:xfrm>
            <a:custGeom>
              <a:rect b="b" l="l" r="r" t="t"/>
              <a:pathLst>
                <a:path extrusionOk="0" h="18563" w="15143">
                  <a:moveTo>
                    <a:pt x="782" y="1"/>
                  </a:moveTo>
                  <a:lnTo>
                    <a:pt x="635" y="25"/>
                  </a:lnTo>
                  <a:lnTo>
                    <a:pt x="489" y="50"/>
                  </a:lnTo>
                  <a:lnTo>
                    <a:pt x="342" y="123"/>
                  </a:lnTo>
                  <a:lnTo>
                    <a:pt x="220" y="196"/>
                  </a:lnTo>
                  <a:lnTo>
                    <a:pt x="122" y="294"/>
                  </a:lnTo>
                  <a:lnTo>
                    <a:pt x="73" y="416"/>
                  </a:lnTo>
                  <a:lnTo>
                    <a:pt x="24" y="563"/>
                  </a:lnTo>
                  <a:lnTo>
                    <a:pt x="0" y="709"/>
                  </a:lnTo>
                  <a:lnTo>
                    <a:pt x="0" y="17708"/>
                  </a:lnTo>
                  <a:lnTo>
                    <a:pt x="24" y="17879"/>
                  </a:lnTo>
                  <a:lnTo>
                    <a:pt x="73" y="18025"/>
                  </a:lnTo>
                  <a:lnTo>
                    <a:pt x="122" y="18172"/>
                  </a:lnTo>
                  <a:lnTo>
                    <a:pt x="220" y="18294"/>
                  </a:lnTo>
                  <a:lnTo>
                    <a:pt x="342" y="18416"/>
                  </a:lnTo>
                  <a:lnTo>
                    <a:pt x="489" y="18489"/>
                  </a:lnTo>
                  <a:lnTo>
                    <a:pt x="635" y="18538"/>
                  </a:lnTo>
                  <a:lnTo>
                    <a:pt x="782" y="18562"/>
                  </a:lnTo>
                  <a:lnTo>
                    <a:pt x="14361" y="18562"/>
                  </a:lnTo>
                  <a:lnTo>
                    <a:pt x="14507" y="18538"/>
                  </a:lnTo>
                  <a:lnTo>
                    <a:pt x="14654" y="18489"/>
                  </a:lnTo>
                  <a:lnTo>
                    <a:pt x="14800" y="18416"/>
                  </a:lnTo>
                  <a:lnTo>
                    <a:pt x="14923" y="18294"/>
                  </a:lnTo>
                  <a:lnTo>
                    <a:pt x="15020" y="18172"/>
                  </a:lnTo>
                  <a:lnTo>
                    <a:pt x="15069" y="18025"/>
                  </a:lnTo>
                  <a:lnTo>
                    <a:pt x="15118" y="17879"/>
                  </a:lnTo>
                  <a:lnTo>
                    <a:pt x="15142" y="17708"/>
                  </a:lnTo>
                  <a:lnTo>
                    <a:pt x="15142" y="17586"/>
                  </a:lnTo>
                  <a:lnTo>
                    <a:pt x="1759" y="17586"/>
                  </a:lnTo>
                  <a:lnTo>
                    <a:pt x="1612" y="17561"/>
                  </a:lnTo>
                  <a:lnTo>
                    <a:pt x="1465" y="17512"/>
                  </a:lnTo>
                  <a:lnTo>
                    <a:pt x="1319" y="17439"/>
                  </a:lnTo>
                  <a:lnTo>
                    <a:pt x="1197" y="17317"/>
                  </a:lnTo>
                  <a:lnTo>
                    <a:pt x="1099" y="17195"/>
                  </a:lnTo>
                  <a:lnTo>
                    <a:pt x="1050" y="17048"/>
                  </a:lnTo>
                  <a:lnTo>
                    <a:pt x="1001" y="16902"/>
                  </a:lnTo>
                  <a:lnTo>
                    <a:pt x="977" y="16731"/>
                  </a:lnTo>
                  <a:lnTo>
                    <a:pt x="97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4"/>
            <p:cNvSpPr/>
            <p:nvPr/>
          </p:nvSpPr>
          <p:spPr>
            <a:xfrm>
              <a:off x="621550" y="922575"/>
              <a:ext cx="378575" cy="464050"/>
            </a:xfrm>
            <a:custGeom>
              <a:rect b="b" l="l" r="r" t="t"/>
              <a:pathLst>
                <a:path extrusionOk="0" h="18562" w="15143">
                  <a:moveTo>
                    <a:pt x="13140" y="6472"/>
                  </a:moveTo>
                  <a:lnTo>
                    <a:pt x="13238" y="6497"/>
                  </a:lnTo>
                  <a:lnTo>
                    <a:pt x="13311" y="6546"/>
                  </a:lnTo>
                  <a:lnTo>
                    <a:pt x="13360" y="6619"/>
                  </a:lnTo>
                  <a:lnTo>
                    <a:pt x="13384" y="6717"/>
                  </a:lnTo>
                  <a:lnTo>
                    <a:pt x="13360" y="6814"/>
                  </a:lnTo>
                  <a:lnTo>
                    <a:pt x="13311" y="6888"/>
                  </a:lnTo>
                  <a:lnTo>
                    <a:pt x="13238" y="6936"/>
                  </a:lnTo>
                  <a:lnTo>
                    <a:pt x="13140" y="6961"/>
                  </a:lnTo>
                  <a:lnTo>
                    <a:pt x="2003" y="6961"/>
                  </a:lnTo>
                  <a:lnTo>
                    <a:pt x="1905" y="6936"/>
                  </a:lnTo>
                  <a:lnTo>
                    <a:pt x="1832" y="6888"/>
                  </a:lnTo>
                  <a:lnTo>
                    <a:pt x="1783" y="6814"/>
                  </a:lnTo>
                  <a:lnTo>
                    <a:pt x="1759" y="6717"/>
                  </a:lnTo>
                  <a:lnTo>
                    <a:pt x="1783" y="6619"/>
                  </a:lnTo>
                  <a:lnTo>
                    <a:pt x="1832" y="6546"/>
                  </a:lnTo>
                  <a:lnTo>
                    <a:pt x="1905" y="6497"/>
                  </a:lnTo>
                  <a:lnTo>
                    <a:pt x="2003" y="6472"/>
                  </a:lnTo>
                  <a:close/>
                  <a:moveTo>
                    <a:pt x="13238" y="8793"/>
                  </a:moveTo>
                  <a:lnTo>
                    <a:pt x="13311" y="8866"/>
                  </a:lnTo>
                  <a:lnTo>
                    <a:pt x="13360" y="8939"/>
                  </a:lnTo>
                  <a:lnTo>
                    <a:pt x="13384" y="9037"/>
                  </a:lnTo>
                  <a:lnTo>
                    <a:pt x="13360" y="9135"/>
                  </a:lnTo>
                  <a:lnTo>
                    <a:pt x="13311" y="9208"/>
                  </a:lnTo>
                  <a:lnTo>
                    <a:pt x="13238" y="9257"/>
                  </a:lnTo>
                  <a:lnTo>
                    <a:pt x="13140" y="9281"/>
                  </a:lnTo>
                  <a:lnTo>
                    <a:pt x="2003" y="9281"/>
                  </a:lnTo>
                  <a:lnTo>
                    <a:pt x="1905" y="9257"/>
                  </a:lnTo>
                  <a:lnTo>
                    <a:pt x="1832" y="9208"/>
                  </a:lnTo>
                  <a:lnTo>
                    <a:pt x="1783" y="9135"/>
                  </a:lnTo>
                  <a:lnTo>
                    <a:pt x="1759" y="9037"/>
                  </a:lnTo>
                  <a:lnTo>
                    <a:pt x="1783" y="8939"/>
                  </a:lnTo>
                  <a:lnTo>
                    <a:pt x="1832" y="8866"/>
                  </a:lnTo>
                  <a:lnTo>
                    <a:pt x="1905" y="8793"/>
                  </a:lnTo>
                  <a:close/>
                  <a:moveTo>
                    <a:pt x="13140" y="11088"/>
                  </a:moveTo>
                  <a:lnTo>
                    <a:pt x="13238" y="11113"/>
                  </a:lnTo>
                  <a:lnTo>
                    <a:pt x="13311" y="11162"/>
                  </a:lnTo>
                  <a:lnTo>
                    <a:pt x="13360" y="11235"/>
                  </a:lnTo>
                  <a:lnTo>
                    <a:pt x="13384" y="11333"/>
                  </a:lnTo>
                  <a:lnTo>
                    <a:pt x="13360" y="11430"/>
                  </a:lnTo>
                  <a:lnTo>
                    <a:pt x="13311" y="11504"/>
                  </a:lnTo>
                  <a:lnTo>
                    <a:pt x="13238" y="11552"/>
                  </a:lnTo>
                  <a:lnTo>
                    <a:pt x="13140" y="11577"/>
                  </a:lnTo>
                  <a:lnTo>
                    <a:pt x="2003" y="11577"/>
                  </a:lnTo>
                  <a:lnTo>
                    <a:pt x="1905" y="11552"/>
                  </a:lnTo>
                  <a:lnTo>
                    <a:pt x="1832" y="11504"/>
                  </a:lnTo>
                  <a:lnTo>
                    <a:pt x="1783" y="11430"/>
                  </a:lnTo>
                  <a:lnTo>
                    <a:pt x="1759" y="11333"/>
                  </a:lnTo>
                  <a:lnTo>
                    <a:pt x="1783" y="11235"/>
                  </a:lnTo>
                  <a:lnTo>
                    <a:pt x="1832" y="11162"/>
                  </a:lnTo>
                  <a:lnTo>
                    <a:pt x="1905" y="11113"/>
                  </a:lnTo>
                  <a:lnTo>
                    <a:pt x="2003" y="11088"/>
                  </a:lnTo>
                  <a:close/>
                  <a:moveTo>
                    <a:pt x="8255" y="13409"/>
                  </a:moveTo>
                  <a:lnTo>
                    <a:pt x="8353" y="13433"/>
                  </a:lnTo>
                  <a:lnTo>
                    <a:pt x="8426" y="13482"/>
                  </a:lnTo>
                  <a:lnTo>
                    <a:pt x="8475" y="13555"/>
                  </a:lnTo>
                  <a:lnTo>
                    <a:pt x="8500" y="13653"/>
                  </a:lnTo>
                  <a:lnTo>
                    <a:pt x="8475" y="13750"/>
                  </a:lnTo>
                  <a:lnTo>
                    <a:pt x="8426" y="13824"/>
                  </a:lnTo>
                  <a:lnTo>
                    <a:pt x="8353" y="13873"/>
                  </a:lnTo>
                  <a:lnTo>
                    <a:pt x="8255" y="13897"/>
                  </a:lnTo>
                  <a:lnTo>
                    <a:pt x="2003" y="13897"/>
                  </a:lnTo>
                  <a:lnTo>
                    <a:pt x="1905" y="13873"/>
                  </a:lnTo>
                  <a:lnTo>
                    <a:pt x="1832" y="13824"/>
                  </a:lnTo>
                  <a:lnTo>
                    <a:pt x="1783" y="13750"/>
                  </a:lnTo>
                  <a:lnTo>
                    <a:pt x="1759" y="13653"/>
                  </a:lnTo>
                  <a:lnTo>
                    <a:pt x="1783" y="13555"/>
                  </a:lnTo>
                  <a:lnTo>
                    <a:pt x="1832" y="13482"/>
                  </a:lnTo>
                  <a:lnTo>
                    <a:pt x="1905" y="13433"/>
                  </a:lnTo>
                  <a:lnTo>
                    <a:pt x="2003" y="13409"/>
                  </a:lnTo>
                  <a:close/>
                  <a:moveTo>
                    <a:pt x="635" y="0"/>
                  </a:moveTo>
                  <a:lnTo>
                    <a:pt x="489" y="49"/>
                  </a:lnTo>
                  <a:lnTo>
                    <a:pt x="342" y="122"/>
                  </a:lnTo>
                  <a:lnTo>
                    <a:pt x="220" y="220"/>
                  </a:lnTo>
                  <a:lnTo>
                    <a:pt x="123" y="342"/>
                  </a:lnTo>
                  <a:lnTo>
                    <a:pt x="74" y="464"/>
                  </a:lnTo>
                  <a:lnTo>
                    <a:pt x="25" y="611"/>
                  </a:lnTo>
                  <a:lnTo>
                    <a:pt x="0" y="782"/>
                  </a:lnTo>
                  <a:lnTo>
                    <a:pt x="0" y="17780"/>
                  </a:lnTo>
                  <a:lnTo>
                    <a:pt x="25" y="17927"/>
                  </a:lnTo>
                  <a:lnTo>
                    <a:pt x="74" y="18073"/>
                  </a:lnTo>
                  <a:lnTo>
                    <a:pt x="123" y="18195"/>
                  </a:lnTo>
                  <a:lnTo>
                    <a:pt x="220" y="18318"/>
                  </a:lnTo>
                  <a:lnTo>
                    <a:pt x="342" y="18415"/>
                  </a:lnTo>
                  <a:lnTo>
                    <a:pt x="489" y="18489"/>
                  </a:lnTo>
                  <a:lnTo>
                    <a:pt x="635" y="18537"/>
                  </a:lnTo>
                  <a:lnTo>
                    <a:pt x="782" y="18562"/>
                  </a:lnTo>
                  <a:lnTo>
                    <a:pt x="14361" y="18562"/>
                  </a:lnTo>
                  <a:lnTo>
                    <a:pt x="14508" y="18537"/>
                  </a:lnTo>
                  <a:lnTo>
                    <a:pt x="14654" y="18489"/>
                  </a:lnTo>
                  <a:lnTo>
                    <a:pt x="14801" y="18415"/>
                  </a:lnTo>
                  <a:lnTo>
                    <a:pt x="14923" y="18318"/>
                  </a:lnTo>
                  <a:lnTo>
                    <a:pt x="15021" y="18195"/>
                  </a:lnTo>
                  <a:lnTo>
                    <a:pt x="15069" y="18073"/>
                  </a:lnTo>
                  <a:lnTo>
                    <a:pt x="15118" y="17927"/>
                  </a:lnTo>
                  <a:lnTo>
                    <a:pt x="15143" y="17780"/>
                  </a:lnTo>
                  <a:lnTo>
                    <a:pt x="15143" y="3859"/>
                  </a:lnTo>
                  <a:lnTo>
                    <a:pt x="12554" y="3859"/>
                  </a:lnTo>
                  <a:lnTo>
                    <a:pt x="12285" y="3835"/>
                  </a:lnTo>
                  <a:lnTo>
                    <a:pt x="12065" y="3761"/>
                  </a:lnTo>
                  <a:lnTo>
                    <a:pt x="11846" y="3639"/>
                  </a:lnTo>
                  <a:lnTo>
                    <a:pt x="11650" y="3468"/>
                  </a:lnTo>
                  <a:lnTo>
                    <a:pt x="11504" y="3297"/>
                  </a:lnTo>
                  <a:lnTo>
                    <a:pt x="11382" y="3078"/>
                  </a:lnTo>
                  <a:lnTo>
                    <a:pt x="11308" y="2833"/>
                  </a:lnTo>
                  <a:lnTo>
                    <a:pt x="11284" y="2589"/>
                  </a:lnTo>
                  <a:lnTo>
                    <a:pt x="1128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p:nvPr/>
          </p:nvSpPr>
          <p:spPr>
            <a:xfrm>
              <a:off x="915850" y="922575"/>
              <a:ext cx="84275" cy="84275"/>
            </a:xfrm>
            <a:custGeom>
              <a:rect b="b" l="l" r="r" t="t"/>
              <a:pathLst>
                <a:path extrusionOk="0" h="3371" w="3371">
                  <a:moveTo>
                    <a:pt x="0" y="0"/>
                  </a:moveTo>
                  <a:lnTo>
                    <a:pt x="0" y="2589"/>
                  </a:lnTo>
                  <a:lnTo>
                    <a:pt x="0" y="2736"/>
                  </a:lnTo>
                  <a:lnTo>
                    <a:pt x="49" y="2882"/>
                  </a:lnTo>
                  <a:lnTo>
                    <a:pt x="122" y="3029"/>
                  </a:lnTo>
                  <a:lnTo>
                    <a:pt x="220" y="3126"/>
                  </a:lnTo>
                  <a:lnTo>
                    <a:pt x="342" y="3224"/>
                  </a:lnTo>
                  <a:lnTo>
                    <a:pt x="464" y="3297"/>
                  </a:lnTo>
                  <a:lnTo>
                    <a:pt x="611" y="3346"/>
                  </a:lnTo>
                  <a:lnTo>
                    <a:pt x="782" y="3371"/>
                  </a:lnTo>
                  <a:lnTo>
                    <a:pt x="3371" y="3371"/>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 name="Google Shape;79;p14"/>
          <p:cNvSpPr txBox="1"/>
          <p:nvPr/>
        </p:nvSpPr>
        <p:spPr>
          <a:xfrm>
            <a:off x="629876" y="613650"/>
            <a:ext cx="6820500" cy="3878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lang="en" sz="1900"/>
              <a:t>ABSTRACT</a:t>
            </a:r>
            <a:endParaRPr sz="1900"/>
          </a:p>
          <a:p>
            <a:pPr indent="0" lvl="0" marL="0" rtl="0" algn="l">
              <a:lnSpc>
                <a:spcPct val="115000"/>
              </a:lnSpc>
              <a:spcBef>
                <a:spcPts val="1200"/>
              </a:spcBef>
              <a:spcAft>
                <a:spcPts val="0"/>
              </a:spcAft>
              <a:buNone/>
            </a:pPr>
            <a:r>
              <a:rPr lang="en" sz="1100"/>
              <a:t>The rapid growth of the job market and continuous changes in industry requirements make it difficult for job seekers and organizations to accurately understand employment demand trends. Traditional job analysis methods are often manual, time-consuming, and fail to adapt to dynamic market conditions. This project focuses on developing a </a:t>
            </a:r>
            <a:r>
              <a:rPr b="1" lang="en" sz="1100"/>
              <a:t>Job Demand Prediction System</a:t>
            </a:r>
            <a:r>
              <a:rPr lang="en" sz="1100"/>
              <a:t> using machine learning techniques to analyze historical job market data and predict future demand across different job roles and industries.</a:t>
            </a:r>
            <a:endParaRPr sz="1100"/>
          </a:p>
          <a:p>
            <a:pPr indent="0" lvl="0" marL="0" rtl="0" algn="l">
              <a:lnSpc>
                <a:spcPct val="115000"/>
              </a:lnSpc>
              <a:spcBef>
                <a:spcPts val="1200"/>
              </a:spcBef>
              <a:spcAft>
                <a:spcPts val="0"/>
              </a:spcAft>
              <a:buNone/>
            </a:pPr>
            <a:r>
              <a:rPr lang="en" sz="1100"/>
              <a:t>The proposed system utilizes structured datasets containing features such as job roles, required skills, experience levels, locations, and hiring trends. Machine learning models, including ensemble-based algorithms, are applied to identify hidden patterns and relationships within the data. In addition, rule-based logic is integrated to enhance interpretability and support decision-making under specific business constraints.</a:t>
            </a:r>
            <a:endParaRPr sz="1100"/>
          </a:p>
          <a:p>
            <a:pPr indent="0" lvl="0" marL="0" rtl="0" algn="l">
              <a:lnSpc>
                <a:spcPct val="115000"/>
              </a:lnSpc>
              <a:spcBef>
                <a:spcPts val="1200"/>
              </a:spcBef>
              <a:spcAft>
                <a:spcPts val="1200"/>
              </a:spcAft>
              <a:buNone/>
            </a:pPr>
            <a:r>
              <a:rPr lang="en" sz="1100"/>
              <a:t>The system provides demand predictions through a user-friendly web interface, enabling users to explore job trends and make informed career or recruitment decisions. By offering data-driven insights into job demand patterns, the proposed solution helps job seekers plan their skill development effectively and assists organizations in workforce planning, thereby improving the overall efficiency and reliability of job market analysis.</a:t>
            </a:r>
            <a:endParaRPr sz="1800">
              <a:solidFill>
                <a:schemeClr val="dk2"/>
              </a:solidFill>
              <a:latin typeface="Raleway Light"/>
              <a:ea typeface="Raleway Light"/>
              <a:cs typeface="Raleway Light"/>
              <a:sym typeface="Raleway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nvSpPr>
        <p:spPr>
          <a:xfrm>
            <a:off x="639900" y="575075"/>
            <a:ext cx="3417300" cy="349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700"/>
              <a:t>AGENDA</a:t>
            </a:r>
            <a:endParaRPr b="1" sz="1700"/>
          </a:p>
          <a:p>
            <a:pPr indent="-298450" lvl="0" marL="457200" rtl="0" algn="l">
              <a:lnSpc>
                <a:spcPct val="115000"/>
              </a:lnSpc>
              <a:spcBef>
                <a:spcPts val="1200"/>
              </a:spcBef>
              <a:spcAft>
                <a:spcPts val="0"/>
              </a:spcAft>
              <a:buSzPts val="1100"/>
              <a:buChar char="●"/>
            </a:pPr>
            <a:r>
              <a:rPr lang="en" sz="1100"/>
              <a:t>Introduction</a:t>
            </a:r>
            <a:br>
              <a:rPr lang="en" sz="1100"/>
            </a:br>
            <a:endParaRPr sz="1100"/>
          </a:p>
          <a:p>
            <a:pPr indent="-298450" lvl="0" marL="457200" rtl="0" algn="l">
              <a:lnSpc>
                <a:spcPct val="115000"/>
              </a:lnSpc>
              <a:spcBef>
                <a:spcPts val="0"/>
              </a:spcBef>
              <a:spcAft>
                <a:spcPts val="0"/>
              </a:spcAft>
              <a:buSzPts val="1100"/>
              <a:buChar char="●"/>
            </a:pPr>
            <a:r>
              <a:rPr lang="en" sz="1100"/>
              <a:t>Problem Statement</a:t>
            </a:r>
            <a:br>
              <a:rPr lang="en" sz="1100"/>
            </a:br>
            <a:endParaRPr sz="1100"/>
          </a:p>
          <a:p>
            <a:pPr indent="-298450" lvl="0" marL="457200" rtl="0" algn="l">
              <a:lnSpc>
                <a:spcPct val="115000"/>
              </a:lnSpc>
              <a:spcBef>
                <a:spcPts val="0"/>
              </a:spcBef>
              <a:spcAft>
                <a:spcPts val="0"/>
              </a:spcAft>
              <a:buSzPts val="1100"/>
              <a:buChar char="●"/>
            </a:pPr>
            <a:r>
              <a:rPr lang="en" sz="1100"/>
              <a:t>Existing Job Market Analysis System</a:t>
            </a:r>
            <a:br>
              <a:rPr lang="en" sz="1100"/>
            </a:br>
            <a:endParaRPr sz="1100"/>
          </a:p>
          <a:p>
            <a:pPr indent="-298450" lvl="0" marL="457200" rtl="0" algn="l">
              <a:lnSpc>
                <a:spcPct val="115000"/>
              </a:lnSpc>
              <a:spcBef>
                <a:spcPts val="0"/>
              </a:spcBef>
              <a:spcAft>
                <a:spcPts val="0"/>
              </a:spcAft>
              <a:buSzPts val="1100"/>
              <a:buChar char="●"/>
            </a:pPr>
            <a:r>
              <a:rPr lang="en" sz="1100"/>
              <a:t>Proposed Job Demand Prediction System</a:t>
            </a:r>
            <a:br>
              <a:rPr lang="en" sz="1100"/>
            </a:br>
            <a:endParaRPr sz="1100"/>
          </a:p>
          <a:p>
            <a:pPr indent="-298450" lvl="0" marL="457200" rtl="0" algn="l">
              <a:lnSpc>
                <a:spcPct val="115000"/>
              </a:lnSpc>
              <a:spcBef>
                <a:spcPts val="0"/>
              </a:spcBef>
              <a:spcAft>
                <a:spcPts val="0"/>
              </a:spcAft>
              <a:buSzPts val="1100"/>
              <a:buChar char="●"/>
            </a:pPr>
            <a:r>
              <a:rPr lang="en" sz="1100"/>
              <a:t>System Architecture</a:t>
            </a:r>
            <a:br>
              <a:rPr lang="en" sz="1100"/>
            </a:br>
            <a:endParaRPr sz="1100"/>
          </a:p>
          <a:p>
            <a:pPr indent="-298450" lvl="0" marL="457200" rtl="0" algn="l">
              <a:lnSpc>
                <a:spcPct val="115000"/>
              </a:lnSpc>
              <a:spcBef>
                <a:spcPts val="0"/>
              </a:spcBef>
              <a:spcAft>
                <a:spcPts val="0"/>
              </a:spcAft>
              <a:buSzPts val="1100"/>
              <a:buChar char="●"/>
            </a:pPr>
            <a:r>
              <a:rPr lang="en" sz="1100"/>
              <a:t>Methodology</a:t>
            </a:r>
            <a:br>
              <a:rPr lang="en" sz="1100"/>
            </a:br>
            <a:endParaRPr sz="1100"/>
          </a:p>
          <a:p>
            <a:pPr indent="0" lvl="0" marL="0" rtl="0" algn="l">
              <a:spcBef>
                <a:spcPts val="1200"/>
              </a:spcBef>
              <a:spcAft>
                <a:spcPts val="0"/>
              </a:spcAft>
              <a:buNone/>
            </a:pPr>
            <a:r>
              <a:t/>
            </a:r>
            <a:endParaRPr sz="2400">
              <a:solidFill>
                <a:schemeClr val="dk2"/>
              </a:solidFill>
              <a:latin typeface="Raleway Light"/>
              <a:ea typeface="Raleway Light"/>
              <a:cs typeface="Raleway Light"/>
              <a:sym typeface="Raleway Light"/>
            </a:endParaRPr>
          </a:p>
        </p:txBody>
      </p:sp>
      <p:sp>
        <p:nvSpPr>
          <p:cNvPr id="85" name="Google Shape;85;p15"/>
          <p:cNvSpPr txBox="1"/>
          <p:nvPr/>
        </p:nvSpPr>
        <p:spPr>
          <a:xfrm>
            <a:off x="4588400" y="744093"/>
            <a:ext cx="2953800" cy="1966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t/>
            </a:r>
            <a:endParaRPr sz="1100"/>
          </a:p>
          <a:p>
            <a:pPr indent="-298450" lvl="0" marL="457200" rtl="0" algn="l">
              <a:lnSpc>
                <a:spcPct val="115000"/>
              </a:lnSpc>
              <a:spcBef>
                <a:spcPts val="1200"/>
              </a:spcBef>
              <a:spcAft>
                <a:spcPts val="0"/>
              </a:spcAft>
              <a:buSzPts val="1100"/>
              <a:buChar char="●"/>
            </a:pPr>
            <a:r>
              <a:rPr lang="en" sz="1100"/>
              <a:t>Implementation</a:t>
            </a:r>
            <a:br>
              <a:rPr lang="en" sz="1100"/>
            </a:br>
            <a:endParaRPr sz="1100"/>
          </a:p>
          <a:p>
            <a:pPr indent="-298450" lvl="0" marL="457200" rtl="0" algn="l">
              <a:lnSpc>
                <a:spcPct val="115000"/>
              </a:lnSpc>
              <a:spcBef>
                <a:spcPts val="0"/>
              </a:spcBef>
              <a:spcAft>
                <a:spcPts val="0"/>
              </a:spcAft>
              <a:buSzPts val="1100"/>
              <a:buChar char="●"/>
            </a:pPr>
            <a:r>
              <a:rPr lang="en" sz="1100"/>
              <a:t>Experimental Setup &amp; Results</a:t>
            </a:r>
            <a:br>
              <a:rPr lang="en" sz="1100"/>
            </a:br>
            <a:endParaRPr sz="1100"/>
          </a:p>
          <a:p>
            <a:pPr indent="-298450" lvl="0" marL="457200" rtl="0" algn="l">
              <a:lnSpc>
                <a:spcPct val="115000"/>
              </a:lnSpc>
              <a:spcBef>
                <a:spcPts val="0"/>
              </a:spcBef>
              <a:spcAft>
                <a:spcPts val="0"/>
              </a:spcAft>
              <a:buSzPts val="1100"/>
              <a:buChar char="●"/>
            </a:pPr>
            <a:r>
              <a:rPr lang="en" sz="1100"/>
              <a:t>Applications</a:t>
            </a:r>
            <a:br>
              <a:rPr lang="en" sz="1100"/>
            </a:br>
            <a:endParaRPr sz="1100"/>
          </a:p>
          <a:p>
            <a:pPr indent="-298450" lvl="0" marL="457200" rtl="0" algn="l">
              <a:lnSpc>
                <a:spcPct val="115000"/>
              </a:lnSpc>
              <a:spcBef>
                <a:spcPts val="0"/>
              </a:spcBef>
              <a:spcAft>
                <a:spcPts val="0"/>
              </a:spcAft>
              <a:buSzPts val="1100"/>
              <a:buChar char="●"/>
            </a:pPr>
            <a:r>
              <a:rPr lang="en" sz="1100"/>
              <a:t>Future Scope</a:t>
            </a:r>
            <a:br>
              <a:rPr lang="en" sz="1100"/>
            </a:br>
            <a:endParaRPr sz="1100"/>
          </a:p>
          <a:p>
            <a:pPr indent="-298450" lvl="0" marL="457200" rtl="0" algn="l">
              <a:lnSpc>
                <a:spcPct val="115000"/>
              </a:lnSpc>
              <a:spcBef>
                <a:spcPts val="0"/>
              </a:spcBef>
              <a:spcAft>
                <a:spcPts val="0"/>
              </a:spcAft>
              <a:buSzPts val="1100"/>
              <a:buChar char="●"/>
            </a:pPr>
            <a:r>
              <a:rPr lang="en" sz="1100"/>
              <a:t>Conclusion</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91" name="Google Shape;91;p16"/>
          <p:cNvSpPr txBox="1"/>
          <p:nvPr/>
        </p:nvSpPr>
        <p:spPr>
          <a:xfrm>
            <a:off x="1001000" y="595025"/>
            <a:ext cx="7230600" cy="385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700"/>
              <a:t>1. INTRODUCTION</a:t>
            </a:r>
            <a:endParaRPr b="1" sz="1700"/>
          </a:p>
          <a:p>
            <a:pPr indent="0" lvl="0" marL="0" rtl="0" algn="l">
              <a:lnSpc>
                <a:spcPct val="115000"/>
              </a:lnSpc>
              <a:spcBef>
                <a:spcPts val="1200"/>
              </a:spcBef>
              <a:spcAft>
                <a:spcPts val="0"/>
              </a:spcAft>
              <a:buNone/>
            </a:pPr>
            <a:r>
              <a:rPr lang="en" sz="1100"/>
              <a:t>The job market is continuously evolving due to rapid technological advancements, globalization, and changing industry requirements. Job seekers and organizations often face difficulties in understanding current and future demand for specific job roles and skills. Traditional job market analysis methods are mostly manual and static, making them ineffective in capturing dynamic hiring trends and emerging skill requirements.</a:t>
            </a:r>
            <a:endParaRPr sz="1100"/>
          </a:p>
          <a:p>
            <a:pPr indent="0" lvl="0" marL="0" rtl="0" algn="l">
              <a:lnSpc>
                <a:spcPct val="115000"/>
              </a:lnSpc>
              <a:spcBef>
                <a:spcPts val="1200"/>
              </a:spcBef>
              <a:spcAft>
                <a:spcPts val="0"/>
              </a:spcAft>
              <a:buNone/>
            </a:pPr>
            <a:r>
              <a:rPr lang="en" sz="1100"/>
              <a:t>With the increasing number of online job portals and recruitment platforms, a large volume of job-related data is generated every day. However, without intelligent analysis, this data cannot be effectively utilized to support career planning and workforce management. Existing systems mainly provide descriptive statistics and historical information, which may not accurately reflect future job demand patterns.</a:t>
            </a:r>
            <a:endParaRPr sz="1100"/>
          </a:p>
          <a:p>
            <a:pPr indent="0" lvl="0" marL="0" rtl="0" algn="l">
              <a:lnSpc>
                <a:spcPct val="115000"/>
              </a:lnSpc>
              <a:spcBef>
                <a:spcPts val="1200"/>
              </a:spcBef>
              <a:spcAft>
                <a:spcPts val="0"/>
              </a:spcAft>
              <a:buNone/>
            </a:pPr>
            <a:r>
              <a:rPr lang="en" sz="1100"/>
              <a:t>To address these challenges, there is a strong need for an intelligent system that can analyze historical job market data and predict future demand accurately. Machine learning techniques offer an effective solution by identifying patterns, trends, and relationships within large datasets. The proposed Job Demand Prediction System leverages these techniques to provide reliable demand forecasts, helping job seekers make informed career decisions and assisting organizations in strategic workforce planning.</a:t>
            </a:r>
            <a:endParaRPr sz="1100"/>
          </a:p>
          <a:p>
            <a:pPr indent="0" lvl="0" marL="0" rtl="0" algn="l">
              <a:spcBef>
                <a:spcPts val="1200"/>
              </a:spcBef>
              <a:spcAft>
                <a:spcPts val="0"/>
              </a:spcAft>
              <a:buNone/>
            </a:pPr>
            <a:r>
              <a:t/>
            </a:r>
            <a:endParaRPr sz="1800">
              <a:solidFill>
                <a:schemeClr val="dk2"/>
              </a:solidFill>
              <a:latin typeface="Raleway Light"/>
              <a:ea typeface="Raleway Light"/>
              <a:cs typeface="Raleway Light"/>
              <a:sym typeface="Raleway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97" name="Google Shape;97;p17"/>
          <p:cNvSpPr txBox="1"/>
          <p:nvPr/>
        </p:nvSpPr>
        <p:spPr>
          <a:xfrm>
            <a:off x="548700" y="643075"/>
            <a:ext cx="8046600" cy="351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700"/>
              <a:t>2. PROBLEM STATEMENT</a:t>
            </a:r>
            <a:endParaRPr b="1" sz="1700"/>
          </a:p>
          <a:p>
            <a:pPr indent="0" lvl="0" marL="0" rtl="0" algn="l">
              <a:lnSpc>
                <a:spcPct val="115000"/>
              </a:lnSpc>
              <a:spcBef>
                <a:spcPts val="1200"/>
              </a:spcBef>
              <a:spcAft>
                <a:spcPts val="0"/>
              </a:spcAft>
              <a:buNone/>
            </a:pPr>
            <a:r>
              <a:rPr lang="en" sz="1100"/>
              <a:t>The job market operates in a highly dynamic environment where employment demand is influenced by factors such as technological advancements, industry growth, geographical location, skill requirements, and economic conditions. Existing job market analysis systems mainly rely on static reports and historical summaries, which fail to capture real-time changes and emerging trends accurately.</a:t>
            </a:r>
            <a:endParaRPr sz="1100"/>
          </a:p>
          <a:p>
            <a:pPr indent="0" lvl="0" marL="0" rtl="0" algn="l">
              <a:lnSpc>
                <a:spcPct val="115000"/>
              </a:lnSpc>
              <a:spcBef>
                <a:spcPts val="1200"/>
              </a:spcBef>
              <a:spcAft>
                <a:spcPts val="0"/>
              </a:spcAft>
              <a:buNone/>
            </a:pPr>
            <a:r>
              <a:rPr lang="en" sz="1100"/>
              <a:t>Most traditional systems do not effectively analyze large volumes of job posting data or consider multiple influencing factors simultaneously, resulting in unreliable or outdated demand insights. As a consequence, job seekers face uncertainty in choosing suitable career paths, while organizations struggle with inefficient workforce planning and talent acquisition.</a:t>
            </a:r>
            <a:endParaRPr sz="1100"/>
          </a:p>
          <a:p>
            <a:pPr indent="0" lvl="0" marL="0" rtl="0" algn="l">
              <a:lnSpc>
                <a:spcPct val="115000"/>
              </a:lnSpc>
              <a:spcBef>
                <a:spcPts val="1200"/>
              </a:spcBef>
              <a:spcAft>
                <a:spcPts val="0"/>
              </a:spcAft>
              <a:buNone/>
            </a:pPr>
            <a:r>
              <a:rPr lang="en" sz="1100"/>
              <a:t>Therefore, there is a need for an intelligent, data-driven system that can analyze historical job market data and predict future demand for various job roles and skills. Such a system should provide accurate, interpretable, and timely predictions to support informed decision-making for both job seekers and recruiters.</a:t>
            </a:r>
            <a:endParaRPr sz="1100"/>
          </a:p>
          <a:p>
            <a:pPr indent="0" lvl="0" marL="0" rtl="0" algn="l">
              <a:spcBef>
                <a:spcPts val="1200"/>
              </a:spcBef>
              <a:spcAft>
                <a:spcPts val="0"/>
              </a:spcAft>
              <a:buNone/>
            </a:pPr>
            <a:r>
              <a:t/>
            </a:r>
            <a:endParaRPr sz="3000">
              <a:solidFill>
                <a:schemeClr val="dk2"/>
              </a:solidFill>
              <a:latin typeface="Raleway Light"/>
              <a:ea typeface="Raleway Light"/>
              <a:cs typeface="Raleway Light"/>
              <a:sym typeface="Raleway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grpSp>
        <p:nvGrpSpPr>
          <p:cNvPr id="103" name="Google Shape;103;p18"/>
          <p:cNvGrpSpPr/>
          <p:nvPr/>
        </p:nvGrpSpPr>
        <p:grpSpPr>
          <a:xfrm>
            <a:off x="7964730" y="329098"/>
            <a:ext cx="977040" cy="722851"/>
            <a:chOff x="5255200" y="3006475"/>
            <a:chExt cx="511700" cy="378575"/>
          </a:xfrm>
        </p:grpSpPr>
        <p:sp>
          <p:nvSpPr>
            <p:cNvPr id="104" name="Google Shape;104;p18"/>
            <p:cNvSpPr/>
            <p:nvPr/>
          </p:nvSpPr>
          <p:spPr>
            <a:xfrm>
              <a:off x="5255200" y="3006475"/>
              <a:ext cx="349900" cy="349875"/>
            </a:xfrm>
            <a:custGeom>
              <a:rect b="b" l="l" r="r" t="t"/>
              <a:pathLst>
                <a:path extrusionOk="0" h="13995" w="13996">
                  <a:moveTo>
                    <a:pt x="6986" y="4714"/>
                  </a:moveTo>
                  <a:lnTo>
                    <a:pt x="7206" y="4738"/>
                  </a:lnTo>
                  <a:lnTo>
                    <a:pt x="7425" y="4763"/>
                  </a:lnTo>
                  <a:lnTo>
                    <a:pt x="7645" y="4812"/>
                  </a:lnTo>
                  <a:lnTo>
                    <a:pt x="7841" y="4885"/>
                  </a:lnTo>
                  <a:lnTo>
                    <a:pt x="8060" y="4983"/>
                  </a:lnTo>
                  <a:lnTo>
                    <a:pt x="8256" y="5105"/>
                  </a:lnTo>
                  <a:lnTo>
                    <a:pt x="8427" y="5227"/>
                  </a:lnTo>
                  <a:lnTo>
                    <a:pt x="8598" y="5398"/>
                  </a:lnTo>
                  <a:lnTo>
                    <a:pt x="8769" y="5569"/>
                  </a:lnTo>
                  <a:lnTo>
                    <a:pt x="8891" y="5740"/>
                  </a:lnTo>
                  <a:lnTo>
                    <a:pt x="9013" y="5935"/>
                  </a:lnTo>
                  <a:lnTo>
                    <a:pt x="9111" y="6155"/>
                  </a:lnTo>
                  <a:lnTo>
                    <a:pt x="9184" y="6350"/>
                  </a:lnTo>
                  <a:lnTo>
                    <a:pt x="9233" y="6570"/>
                  </a:lnTo>
                  <a:lnTo>
                    <a:pt x="9257" y="6790"/>
                  </a:lnTo>
                  <a:lnTo>
                    <a:pt x="9257" y="7010"/>
                  </a:lnTo>
                  <a:lnTo>
                    <a:pt x="9257" y="7229"/>
                  </a:lnTo>
                  <a:lnTo>
                    <a:pt x="9233" y="7425"/>
                  </a:lnTo>
                  <a:lnTo>
                    <a:pt x="9184" y="7645"/>
                  </a:lnTo>
                  <a:lnTo>
                    <a:pt x="9111" y="7864"/>
                  </a:lnTo>
                  <a:lnTo>
                    <a:pt x="9013" y="8060"/>
                  </a:lnTo>
                  <a:lnTo>
                    <a:pt x="8891" y="8255"/>
                  </a:lnTo>
                  <a:lnTo>
                    <a:pt x="8769" y="8451"/>
                  </a:lnTo>
                  <a:lnTo>
                    <a:pt x="8598" y="8622"/>
                  </a:lnTo>
                  <a:lnTo>
                    <a:pt x="8427" y="8768"/>
                  </a:lnTo>
                  <a:lnTo>
                    <a:pt x="8256" y="8915"/>
                  </a:lnTo>
                  <a:lnTo>
                    <a:pt x="8060" y="9012"/>
                  </a:lnTo>
                  <a:lnTo>
                    <a:pt x="7841" y="9110"/>
                  </a:lnTo>
                  <a:lnTo>
                    <a:pt x="7645" y="9183"/>
                  </a:lnTo>
                  <a:lnTo>
                    <a:pt x="7425" y="9232"/>
                  </a:lnTo>
                  <a:lnTo>
                    <a:pt x="7206" y="9257"/>
                  </a:lnTo>
                  <a:lnTo>
                    <a:pt x="6986" y="9281"/>
                  </a:lnTo>
                  <a:lnTo>
                    <a:pt x="6766" y="9257"/>
                  </a:lnTo>
                  <a:lnTo>
                    <a:pt x="6546" y="9232"/>
                  </a:lnTo>
                  <a:lnTo>
                    <a:pt x="6351" y="9183"/>
                  </a:lnTo>
                  <a:lnTo>
                    <a:pt x="6131" y="9110"/>
                  </a:lnTo>
                  <a:lnTo>
                    <a:pt x="5936" y="9012"/>
                  </a:lnTo>
                  <a:lnTo>
                    <a:pt x="5740" y="8915"/>
                  </a:lnTo>
                  <a:lnTo>
                    <a:pt x="5545" y="8768"/>
                  </a:lnTo>
                  <a:lnTo>
                    <a:pt x="5374" y="8622"/>
                  </a:lnTo>
                  <a:lnTo>
                    <a:pt x="5227" y="8451"/>
                  </a:lnTo>
                  <a:lnTo>
                    <a:pt x="5081" y="8255"/>
                  </a:lnTo>
                  <a:lnTo>
                    <a:pt x="4983" y="8060"/>
                  </a:lnTo>
                  <a:lnTo>
                    <a:pt x="4885" y="7864"/>
                  </a:lnTo>
                  <a:lnTo>
                    <a:pt x="4812" y="7645"/>
                  </a:lnTo>
                  <a:lnTo>
                    <a:pt x="4763" y="7425"/>
                  </a:lnTo>
                  <a:lnTo>
                    <a:pt x="4714" y="7229"/>
                  </a:lnTo>
                  <a:lnTo>
                    <a:pt x="4714" y="7010"/>
                  </a:lnTo>
                  <a:lnTo>
                    <a:pt x="4714" y="6790"/>
                  </a:lnTo>
                  <a:lnTo>
                    <a:pt x="4763" y="6570"/>
                  </a:lnTo>
                  <a:lnTo>
                    <a:pt x="4812" y="6350"/>
                  </a:lnTo>
                  <a:lnTo>
                    <a:pt x="4885" y="6155"/>
                  </a:lnTo>
                  <a:lnTo>
                    <a:pt x="4983" y="5935"/>
                  </a:lnTo>
                  <a:lnTo>
                    <a:pt x="5081" y="5740"/>
                  </a:lnTo>
                  <a:lnTo>
                    <a:pt x="5227" y="5569"/>
                  </a:lnTo>
                  <a:lnTo>
                    <a:pt x="5374" y="5398"/>
                  </a:lnTo>
                  <a:lnTo>
                    <a:pt x="5545" y="5227"/>
                  </a:lnTo>
                  <a:lnTo>
                    <a:pt x="5740" y="5105"/>
                  </a:lnTo>
                  <a:lnTo>
                    <a:pt x="5936" y="4983"/>
                  </a:lnTo>
                  <a:lnTo>
                    <a:pt x="6131" y="4885"/>
                  </a:lnTo>
                  <a:lnTo>
                    <a:pt x="6351" y="4812"/>
                  </a:lnTo>
                  <a:lnTo>
                    <a:pt x="6546" y="4763"/>
                  </a:lnTo>
                  <a:lnTo>
                    <a:pt x="6766" y="4738"/>
                  </a:lnTo>
                  <a:lnTo>
                    <a:pt x="6986" y="4714"/>
                  </a:lnTo>
                  <a:close/>
                  <a:moveTo>
                    <a:pt x="6497" y="0"/>
                  </a:moveTo>
                  <a:lnTo>
                    <a:pt x="6375" y="25"/>
                  </a:lnTo>
                  <a:lnTo>
                    <a:pt x="6253" y="49"/>
                  </a:lnTo>
                  <a:lnTo>
                    <a:pt x="6131" y="122"/>
                  </a:lnTo>
                  <a:lnTo>
                    <a:pt x="6033" y="196"/>
                  </a:lnTo>
                  <a:lnTo>
                    <a:pt x="5936" y="293"/>
                  </a:lnTo>
                  <a:lnTo>
                    <a:pt x="5862" y="391"/>
                  </a:lnTo>
                  <a:lnTo>
                    <a:pt x="5813" y="513"/>
                  </a:lnTo>
                  <a:lnTo>
                    <a:pt x="5789" y="635"/>
                  </a:lnTo>
                  <a:lnTo>
                    <a:pt x="5618" y="2076"/>
                  </a:lnTo>
                  <a:lnTo>
                    <a:pt x="5325" y="2174"/>
                  </a:lnTo>
                  <a:lnTo>
                    <a:pt x="5032" y="2296"/>
                  </a:lnTo>
                  <a:lnTo>
                    <a:pt x="4763" y="2418"/>
                  </a:lnTo>
                  <a:lnTo>
                    <a:pt x="4495" y="2565"/>
                  </a:lnTo>
                  <a:lnTo>
                    <a:pt x="3347" y="1661"/>
                  </a:lnTo>
                  <a:lnTo>
                    <a:pt x="3225" y="1588"/>
                  </a:lnTo>
                  <a:lnTo>
                    <a:pt x="3103" y="1539"/>
                  </a:lnTo>
                  <a:lnTo>
                    <a:pt x="2980" y="1514"/>
                  </a:lnTo>
                  <a:lnTo>
                    <a:pt x="2736" y="1514"/>
                  </a:lnTo>
                  <a:lnTo>
                    <a:pt x="2590" y="1563"/>
                  </a:lnTo>
                  <a:lnTo>
                    <a:pt x="2492" y="1637"/>
                  </a:lnTo>
                  <a:lnTo>
                    <a:pt x="2394" y="1710"/>
                  </a:lnTo>
                  <a:lnTo>
                    <a:pt x="1710" y="2394"/>
                  </a:lnTo>
                  <a:lnTo>
                    <a:pt x="1613" y="2491"/>
                  </a:lnTo>
                  <a:lnTo>
                    <a:pt x="1564" y="2614"/>
                  </a:lnTo>
                  <a:lnTo>
                    <a:pt x="1515" y="2736"/>
                  </a:lnTo>
                  <a:lnTo>
                    <a:pt x="1491" y="2858"/>
                  </a:lnTo>
                  <a:lnTo>
                    <a:pt x="1491" y="3004"/>
                  </a:lnTo>
                  <a:lnTo>
                    <a:pt x="1515" y="3126"/>
                  </a:lnTo>
                  <a:lnTo>
                    <a:pt x="1564" y="3249"/>
                  </a:lnTo>
                  <a:lnTo>
                    <a:pt x="1637" y="3346"/>
                  </a:lnTo>
                  <a:lnTo>
                    <a:pt x="2541" y="4494"/>
                  </a:lnTo>
                  <a:lnTo>
                    <a:pt x="2394" y="4763"/>
                  </a:lnTo>
                  <a:lnTo>
                    <a:pt x="2272" y="5056"/>
                  </a:lnTo>
                  <a:lnTo>
                    <a:pt x="2174" y="5349"/>
                  </a:lnTo>
                  <a:lnTo>
                    <a:pt x="2077" y="5642"/>
                  </a:lnTo>
                  <a:lnTo>
                    <a:pt x="636" y="5789"/>
                  </a:lnTo>
                  <a:lnTo>
                    <a:pt x="514" y="5837"/>
                  </a:lnTo>
                  <a:lnTo>
                    <a:pt x="392" y="5886"/>
                  </a:lnTo>
                  <a:lnTo>
                    <a:pt x="269" y="5959"/>
                  </a:lnTo>
                  <a:lnTo>
                    <a:pt x="172" y="6033"/>
                  </a:lnTo>
                  <a:lnTo>
                    <a:pt x="99" y="6155"/>
                  </a:lnTo>
                  <a:lnTo>
                    <a:pt x="50" y="6253"/>
                  </a:lnTo>
                  <a:lnTo>
                    <a:pt x="1" y="6399"/>
                  </a:lnTo>
                  <a:lnTo>
                    <a:pt x="1" y="6521"/>
                  </a:lnTo>
                  <a:lnTo>
                    <a:pt x="1" y="7474"/>
                  </a:lnTo>
                  <a:lnTo>
                    <a:pt x="1" y="7620"/>
                  </a:lnTo>
                  <a:lnTo>
                    <a:pt x="50" y="7742"/>
                  </a:lnTo>
                  <a:lnTo>
                    <a:pt x="99" y="7864"/>
                  </a:lnTo>
                  <a:lnTo>
                    <a:pt x="172" y="7962"/>
                  </a:lnTo>
                  <a:lnTo>
                    <a:pt x="269" y="8060"/>
                  </a:lnTo>
                  <a:lnTo>
                    <a:pt x="392" y="8133"/>
                  </a:lnTo>
                  <a:lnTo>
                    <a:pt x="514" y="8182"/>
                  </a:lnTo>
                  <a:lnTo>
                    <a:pt x="636" y="8206"/>
                  </a:lnTo>
                  <a:lnTo>
                    <a:pt x="2077" y="8377"/>
                  </a:lnTo>
                  <a:lnTo>
                    <a:pt x="2174" y="8670"/>
                  </a:lnTo>
                  <a:lnTo>
                    <a:pt x="2272" y="8939"/>
                  </a:lnTo>
                  <a:lnTo>
                    <a:pt x="2394" y="9232"/>
                  </a:lnTo>
                  <a:lnTo>
                    <a:pt x="2541" y="9501"/>
                  </a:lnTo>
                  <a:lnTo>
                    <a:pt x="1637" y="10649"/>
                  </a:lnTo>
                  <a:lnTo>
                    <a:pt x="1564" y="10771"/>
                  </a:lnTo>
                  <a:lnTo>
                    <a:pt x="1515" y="10893"/>
                  </a:lnTo>
                  <a:lnTo>
                    <a:pt x="1491" y="11015"/>
                  </a:lnTo>
                  <a:lnTo>
                    <a:pt x="1491" y="11137"/>
                  </a:lnTo>
                  <a:lnTo>
                    <a:pt x="1515" y="11259"/>
                  </a:lnTo>
                  <a:lnTo>
                    <a:pt x="1564" y="11381"/>
                  </a:lnTo>
                  <a:lnTo>
                    <a:pt x="1613" y="11504"/>
                  </a:lnTo>
                  <a:lnTo>
                    <a:pt x="1710" y="11601"/>
                  </a:lnTo>
                  <a:lnTo>
                    <a:pt x="2394" y="12285"/>
                  </a:lnTo>
                  <a:lnTo>
                    <a:pt x="2492" y="12383"/>
                  </a:lnTo>
                  <a:lnTo>
                    <a:pt x="2590" y="12432"/>
                  </a:lnTo>
                  <a:lnTo>
                    <a:pt x="2736" y="12480"/>
                  </a:lnTo>
                  <a:lnTo>
                    <a:pt x="2858" y="12505"/>
                  </a:lnTo>
                  <a:lnTo>
                    <a:pt x="2980" y="12505"/>
                  </a:lnTo>
                  <a:lnTo>
                    <a:pt x="3103" y="12456"/>
                  </a:lnTo>
                  <a:lnTo>
                    <a:pt x="3225" y="12407"/>
                  </a:lnTo>
                  <a:lnTo>
                    <a:pt x="3347" y="12358"/>
                  </a:lnTo>
                  <a:lnTo>
                    <a:pt x="4495" y="11455"/>
                  </a:lnTo>
                  <a:lnTo>
                    <a:pt x="4763" y="11577"/>
                  </a:lnTo>
                  <a:lnTo>
                    <a:pt x="5032" y="11723"/>
                  </a:lnTo>
                  <a:lnTo>
                    <a:pt x="5325" y="11821"/>
                  </a:lnTo>
                  <a:lnTo>
                    <a:pt x="5618" y="11919"/>
                  </a:lnTo>
                  <a:lnTo>
                    <a:pt x="5789" y="13360"/>
                  </a:lnTo>
                  <a:lnTo>
                    <a:pt x="5813" y="13482"/>
                  </a:lnTo>
                  <a:lnTo>
                    <a:pt x="5862" y="13604"/>
                  </a:lnTo>
                  <a:lnTo>
                    <a:pt x="5936" y="13726"/>
                  </a:lnTo>
                  <a:lnTo>
                    <a:pt x="6033" y="13824"/>
                  </a:lnTo>
                  <a:lnTo>
                    <a:pt x="6131" y="13897"/>
                  </a:lnTo>
                  <a:lnTo>
                    <a:pt x="6253" y="13946"/>
                  </a:lnTo>
                  <a:lnTo>
                    <a:pt x="6375" y="13995"/>
                  </a:lnTo>
                  <a:lnTo>
                    <a:pt x="7596" y="13995"/>
                  </a:lnTo>
                  <a:lnTo>
                    <a:pt x="7743" y="13946"/>
                  </a:lnTo>
                  <a:lnTo>
                    <a:pt x="7841" y="13897"/>
                  </a:lnTo>
                  <a:lnTo>
                    <a:pt x="7963" y="13824"/>
                  </a:lnTo>
                  <a:lnTo>
                    <a:pt x="8036" y="13726"/>
                  </a:lnTo>
                  <a:lnTo>
                    <a:pt x="8109" y="13604"/>
                  </a:lnTo>
                  <a:lnTo>
                    <a:pt x="8158" y="13482"/>
                  </a:lnTo>
                  <a:lnTo>
                    <a:pt x="8183" y="13360"/>
                  </a:lnTo>
                  <a:lnTo>
                    <a:pt x="8353" y="11919"/>
                  </a:lnTo>
                  <a:lnTo>
                    <a:pt x="8647" y="11821"/>
                  </a:lnTo>
                  <a:lnTo>
                    <a:pt x="8940" y="11723"/>
                  </a:lnTo>
                  <a:lnTo>
                    <a:pt x="9233" y="11577"/>
                  </a:lnTo>
                  <a:lnTo>
                    <a:pt x="9501" y="11455"/>
                  </a:lnTo>
                  <a:lnTo>
                    <a:pt x="10649" y="12358"/>
                  </a:lnTo>
                  <a:lnTo>
                    <a:pt x="10747" y="12407"/>
                  </a:lnTo>
                  <a:lnTo>
                    <a:pt x="10869" y="12456"/>
                  </a:lnTo>
                  <a:lnTo>
                    <a:pt x="10991" y="12505"/>
                  </a:lnTo>
                  <a:lnTo>
                    <a:pt x="11138" y="12505"/>
                  </a:lnTo>
                  <a:lnTo>
                    <a:pt x="11260" y="12480"/>
                  </a:lnTo>
                  <a:lnTo>
                    <a:pt x="11382" y="12432"/>
                  </a:lnTo>
                  <a:lnTo>
                    <a:pt x="11504" y="12383"/>
                  </a:lnTo>
                  <a:lnTo>
                    <a:pt x="11602" y="12285"/>
                  </a:lnTo>
                  <a:lnTo>
                    <a:pt x="12286" y="11601"/>
                  </a:lnTo>
                  <a:lnTo>
                    <a:pt x="12359" y="11504"/>
                  </a:lnTo>
                  <a:lnTo>
                    <a:pt x="12432" y="11381"/>
                  </a:lnTo>
                  <a:lnTo>
                    <a:pt x="12457" y="11259"/>
                  </a:lnTo>
                  <a:lnTo>
                    <a:pt x="12481" y="11137"/>
                  </a:lnTo>
                  <a:lnTo>
                    <a:pt x="12481" y="11015"/>
                  </a:lnTo>
                  <a:lnTo>
                    <a:pt x="12457" y="10893"/>
                  </a:lnTo>
                  <a:lnTo>
                    <a:pt x="12408" y="10771"/>
                  </a:lnTo>
                  <a:lnTo>
                    <a:pt x="12334" y="10649"/>
                  </a:lnTo>
                  <a:lnTo>
                    <a:pt x="11431" y="9501"/>
                  </a:lnTo>
                  <a:lnTo>
                    <a:pt x="11577" y="9232"/>
                  </a:lnTo>
                  <a:lnTo>
                    <a:pt x="11699" y="8939"/>
                  </a:lnTo>
                  <a:lnTo>
                    <a:pt x="11822" y="8670"/>
                  </a:lnTo>
                  <a:lnTo>
                    <a:pt x="11895" y="8377"/>
                  </a:lnTo>
                  <a:lnTo>
                    <a:pt x="13360" y="8206"/>
                  </a:lnTo>
                  <a:lnTo>
                    <a:pt x="13482" y="8182"/>
                  </a:lnTo>
                  <a:lnTo>
                    <a:pt x="13604" y="8133"/>
                  </a:lnTo>
                  <a:lnTo>
                    <a:pt x="13702" y="8060"/>
                  </a:lnTo>
                  <a:lnTo>
                    <a:pt x="13800" y="7962"/>
                  </a:lnTo>
                  <a:lnTo>
                    <a:pt x="13873" y="7864"/>
                  </a:lnTo>
                  <a:lnTo>
                    <a:pt x="13946" y="7742"/>
                  </a:lnTo>
                  <a:lnTo>
                    <a:pt x="13971" y="7620"/>
                  </a:lnTo>
                  <a:lnTo>
                    <a:pt x="13995" y="7474"/>
                  </a:lnTo>
                  <a:lnTo>
                    <a:pt x="13995" y="6521"/>
                  </a:lnTo>
                  <a:lnTo>
                    <a:pt x="13971" y="6399"/>
                  </a:lnTo>
                  <a:lnTo>
                    <a:pt x="13946" y="6253"/>
                  </a:lnTo>
                  <a:lnTo>
                    <a:pt x="13873" y="6155"/>
                  </a:lnTo>
                  <a:lnTo>
                    <a:pt x="13800" y="6033"/>
                  </a:lnTo>
                  <a:lnTo>
                    <a:pt x="13702" y="5959"/>
                  </a:lnTo>
                  <a:lnTo>
                    <a:pt x="13604" y="5886"/>
                  </a:lnTo>
                  <a:lnTo>
                    <a:pt x="13482" y="5837"/>
                  </a:lnTo>
                  <a:lnTo>
                    <a:pt x="13360" y="5789"/>
                  </a:lnTo>
                  <a:lnTo>
                    <a:pt x="11895" y="5642"/>
                  </a:lnTo>
                  <a:lnTo>
                    <a:pt x="11822" y="5349"/>
                  </a:lnTo>
                  <a:lnTo>
                    <a:pt x="11699" y="5056"/>
                  </a:lnTo>
                  <a:lnTo>
                    <a:pt x="11577" y="4763"/>
                  </a:lnTo>
                  <a:lnTo>
                    <a:pt x="11431" y="4494"/>
                  </a:lnTo>
                  <a:lnTo>
                    <a:pt x="12334" y="3346"/>
                  </a:lnTo>
                  <a:lnTo>
                    <a:pt x="12408" y="3249"/>
                  </a:lnTo>
                  <a:lnTo>
                    <a:pt x="12457" y="3126"/>
                  </a:lnTo>
                  <a:lnTo>
                    <a:pt x="12481" y="3004"/>
                  </a:lnTo>
                  <a:lnTo>
                    <a:pt x="12481" y="2858"/>
                  </a:lnTo>
                  <a:lnTo>
                    <a:pt x="12457" y="2736"/>
                  </a:lnTo>
                  <a:lnTo>
                    <a:pt x="12432" y="2614"/>
                  </a:lnTo>
                  <a:lnTo>
                    <a:pt x="12359" y="2491"/>
                  </a:lnTo>
                  <a:lnTo>
                    <a:pt x="12286" y="2394"/>
                  </a:lnTo>
                  <a:lnTo>
                    <a:pt x="11602" y="1710"/>
                  </a:lnTo>
                  <a:lnTo>
                    <a:pt x="11504" y="1637"/>
                  </a:lnTo>
                  <a:lnTo>
                    <a:pt x="11382" y="1563"/>
                  </a:lnTo>
                  <a:lnTo>
                    <a:pt x="11260" y="1514"/>
                  </a:lnTo>
                  <a:lnTo>
                    <a:pt x="10991" y="1514"/>
                  </a:lnTo>
                  <a:lnTo>
                    <a:pt x="10869" y="1539"/>
                  </a:lnTo>
                  <a:lnTo>
                    <a:pt x="10747" y="1588"/>
                  </a:lnTo>
                  <a:lnTo>
                    <a:pt x="10649" y="1661"/>
                  </a:lnTo>
                  <a:lnTo>
                    <a:pt x="9501" y="2565"/>
                  </a:lnTo>
                  <a:lnTo>
                    <a:pt x="9233" y="2418"/>
                  </a:lnTo>
                  <a:lnTo>
                    <a:pt x="8940" y="2296"/>
                  </a:lnTo>
                  <a:lnTo>
                    <a:pt x="8647" y="2174"/>
                  </a:lnTo>
                  <a:lnTo>
                    <a:pt x="8353" y="2076"/>
                  </a:lnTo>
                  <a:lnTo>
                    <a:pt x="8183" y="635"/>
                  </a:lnTo>
                  <a:lnTo>
                    <a:pt x="8158" y="513"/>
                  </a:lnTo>
                  <a:lnTo>
                    <a:pt x="8109" y="391"/>
                  </a:lnTo>
                  <a:lnTo>
                    <a:pt x="8036" y="293"/>
                  </a:lnTo>
                  <a:lnTo>
                    <a:pt x="7963" y="196"/>
                  </a:lnTo>
                  <a:lnTo>
                    <a:pt x="7841" y="122"/>
                  </a:lnTo>
                  <a:lnTo>
                    <a:pt x="7743" y="49"/>
                  </a:lnTo>
                  <a:lnTo>
                    <a:pt x="7596" y="25"/>
                  </a:lnTo>
                  <a:lnTo>
                    <a:pt x="747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8"/>
            <p:cNvSpPr/>
            <p:nvPr/>
          </p:nvSpPr>
          <p:spPr>
            <a:xfrm>
              <a:off x="5567825" y="3185975"/>
              <a:ext cx="199075" cy="199075"/>
            </a:xfrm>
            <a:custGeom>
              <a:rect b="b" l="l" r="r" t="t"/>
              <a:pathLst>
                <a:path extrusionOk="0" h="7963" w="7963">
                  <a:moveTo>
                    <a:pt x="3933" y="2296"/>
                  </a:moveTo>
                  <a:lnTo>
                    <a:pt x="4103" y="2321"/>
                  </a:lnTo>
                  <a:lnTo>
                    <a:pt x="4274" y="2321"/>
                  </a:lnTo>
                  <a:lnTo>
                    <a:pt x="4421" y="2370"/>
                  </a:lnTo>
                  <a:lnTo>
                    <a:pt x="4592" y="2419"/>
                  </a:lnTo>
                  <a:lnTo>
                    <a:pt x="4738" y="2492"/>
                  </a:lnTo>
                  <a:lnTo>
                    <a:pt x="4885" y="2565"/>
                  </a:lnTo>
                  <a:lnTo>
                    <a:pt x="5032" y="2663"/>
                  </a:lnTo>
                  <a:lnTo>
                    <a:pt x="5154" y="2785"/>
                  </a:lnTo>
                  <a:lnTo>
                    <a:pt x="5276" y="2883"/>
                  </a:lnTo>
                  <a:lnTo>
                    <a:pt x="5373" y="3029"/>
                  </a:lnTo>
                  <a:lnTo>
                    <a:pt x="5447" y="3151"/>
                  </a:lnTo>
                  <a:lnTo>
                    <a:pt x="5520" y="3298"/>
                  </a:lnTo>
                  <a:lnTo>
                    <a:pt x="5593" y="3444"/>
                  </a:lnTo>
                  <a:lnTo>
                    <a:pt x="5618" y="3615"/>
                  </a:lnTo>
                  <a:lnTo>
                    <a:pt x="5642" y="3762"/>
                  </a:lnTo>
                  <a:lnTo>
                    <a:pt x="5667" y="3933"/>
                  </a:lnTo>
                  <a:lnTo>
                    <a:pt x="5667" y="4079"/>
                  </a:lnTo>
                  <a:lnTo>
                    <a:pt x="5642" y="4250"/>
                  </a:lnTo>
                  <a:lnTo>
                    <a:pt x="5618" y="4421"/>
                  </a:lnTo>
                  <a:lnTo>
                    <a:pt x="5569" y="4568"/>
                  </a:lnTo>
                  <a:lnTo>
                    <a:pt x="5496" y="4739"/>
                  </a:lnTo>
                  <a:lnTo>
                    <a:pt x="5398" y="4885"/>
                  </a:lnTo>
                  <a:lnTo>
                    <a:pt x="5300" y="5007"/>
                  </a:lnTo>
                  <a:lnTo>
                    <a:pt x="5203" y="5154"/>
                  </a:lnTo>
                  <a:lnTo>
                    <a:pt x="5080" y="5252"/>
                  </a:lnTo>
                  <a:lnTo>
                    <a:pt x="4958" y="5349"/>
                  </a:lnTo>
                  <a:lnTo>
                    <a:pt x="4812" y="5447"/>
                  </a:lnTo>
                  <a:lnTo>
                    <a:pt x="4665" y="5520"/>
                  </a:lnTo>
                  <a:lnTo>
                    <a:pt x="4519" y="5569"/>
                  </a:lnTo>
                  <a:lnTo>
                    <a:pt x="4372" y="5618"/>
                  </a:lnTo>
                  <a:lnTo>
                    <a:pt x="4201" y="5642"/>
                  </a:lnTo>
                  <a:lnTo>
                    <a:pt x="4055" y="5667"/>
                  </a:lnTo>
                  <a:lnTo>
                    <a:pt x="3884" y="5642"/>
                  </a:lnTo>
                  <a:lnTo>
                    <a:pt x="3713" y="5642"/>
                  </a:lnTo>
                  <a:lnTo>
                    <a:pt x="3566" y="5594"/>
                  </a:lnTo>
                  <a:lnTo>
                    <a:pt x="3395" y="5545"/>
                  </a:lnTo>
                  <a:lnTo>
                    <a:pt x="3249" y="5471"/>
                  </a:lnTo>
                  <a:lnTo>
                    <a:pt x="3102" y="5398"/>
                  </a:lnTo>
                  <a:lnTo>
                    <a:pt x="2956" y="5300"/>
                  </a:lnTo>
                  <a:lnTo>
                    <a:pt x="2833" y="5178"/>
                  </a:lnTo>
                  <a:lnTo>
                    <a:pt x="2711" y="5081"/>
                  </a:lnTo>
                  <a:lnTo>
                    <a:pt x="2614" y="4934"/>
                  </a:lnTo>
                  <a:lnTo>
                    <a:pt x="2540" y="4812"/>
                  </a:lnTo>
                  <a:lnTo>
                    <a:pt x="2467" y="4665"/>
                  </a:lnTo>
                  <a:lnTo>
                    <a:pt x="2394" y="4519"/>
                  </a:lnTo>
                  <a:lnTo>
                    <a:pt x="2369" y="4348"/>
                  </a:lnTo>
                  <a:lnTo>
                    <a:pt x="2321" y="4201"/>
                  </a:lnTo>
                  <a:lnTo>
                    <a:pt x="2321" y="4030"/>
                  </a:lnTo>
                  <a:lnTo>
                    <a:pt x="2321" y="3884"/>
                  </a:lnTo>
                  <a:lnTo>
                    <a:pt x="2345" y="3713"/>
                  </a:lnTo>
                  <a:lnTo>
                    <a:pt x="2369" y="3542"/>
                  </a:lnTo>
                  <a:lnTo>
                    <a:pt x="2418" y="3395"/>
                  </a:lnTo>
                  <a:lnTo>
                    <a:pt x="2492" y="3224"/>
                  </a:lnTo>
                  <a:lnTo>
                    <a:pt x="2589" y="3078"/>
                  </a:lnTo>
                  <a:lnTo>
                    <a:pt x="2687" y="2956"/>
                  </a:lnTo>
                  <a:lnTo>
                    <a:pt x="2785" y="2809"/>
                  </a:lnTo>
                  <a:lnTo>
                    <a:pt x="2907" y="2712"/>
                  </a:lnTo>
                  <a:lnTo>
                    <a:pt x="3029" y="2614"/>
                  </a:lnTo>
                  <a:lnTo>
                    <a:pt x="3175" y="2516"/>
                  </a:lnTo>
                  <a:lnTo>
                    <a:pt x="3322" y="2443"/>
                  </a:lnTo>
                  <a:lnTo>
                    <a:pt x="3468" y="2394"/>
                  </a:lnTo>
                  <a:lnTo>
                    <a:pt x="3615" y="2345"/>
                  </a:lnTo>
                  <a:lnTo>
                    <a:pt x="3786" y="2321"/>
                  </a:lnTo>
                  <a:lnTo>
                    <a:pt x="3933" y="2296"/>
                  </a:lnTo>
                  <a:close/>
                  <a:moveTo>
                    <a:pt x="3053" y="1"/>
                  </a:moveTo>
                  <a:lnTo>
                    <a:pt x="2980" y="25"/>
                  </a:lnTo>
                  <a:lnTo>
                    <a:pt x="2443" y="196"/>
                  </a:lnTo>
                  <a:lnTo>
                    <a:pt x="2369" y="220"/>
                  </a:lnTo>
                  <a:lnTo>
                    <a:pt x="2296" y="269"/>
                  </a:lnTo>
                  <a:lnTo>
                    <a:pt x="2198" y="391"/>
                  </a:lnTo>
                  <a:lnTo>
                    <a:pt x="2150" y="538"/>
                  </a:lnTo>
                  <a:lnTo>
                    <a:pt x="2150" y="611"/>
                  </a:lnTo>
                  <a:lnTo>
                    <a:pt x="2150" y="684"/>
                  </a:lnTo>
                  <a:lnTo>
                    <a:pt x="2394" y="1832"/>
                  </a:lnTo>
                  <a:lnTo>
                    <a:pt x="2223" y="1954"/>
                  </a:lnTo>
                  <a:lnTo>
                    <a:pt x="2076" y="2101"/>
                  </a:lnTo>
                  <a:lnTo>
                    <a:pt x="1002" y="1686"/>
                  </a:lnTo>
                  <a:lnTo>
                    <a:pt x="928" y="1686"/>
                  </a:lnTo>
                  <a:lnTo>
                    <a:pt x="831" y="1661"/>
                  </a:lnTo>
                  <a:lnTo>
                    <a:pt x="684" y="1710"/>
                  </a:lnTo>
                  <a:lnTo>
                    <a:pt x="562" y="1784"/>
                  </a:lnTo>
                  <a:lnTo>
                    <a:pt x="513" y="1832"/>
                  </a:lnTo>
                  <a:lnTo>
                    <a:pt x="464" y="1906"/>
                  </a:lnTo>
                  <a:lnTo>
                    <a:pt x="220" y="2394"/>
                  </a:lnTo>
                  <a:lnTo>
                    <a:pt x="196" y="2467"/>
                  </a:lnTo>
                  <a:lnTo>
                    <a:pt x="171" y="2541"/>
                  </a:lnTo>
                  <a:lnTo>
                    <a:pt x="196" y="2712"/>
                  </a:lnTo>
                  <a:lnTo>
                    <a:pt x="245" y="2834"/>
                  </a:lnTo>
                  <a:lnTo>
                    <a:pt x="293" y="2907"/>
                  </a:lnTo>
                  <a:lnTo>
                    <a:pt x="367" y="2956"/>
                  </a:lnTo>
                  <a:lnTo>
                    <a:pt x="1344" y="3591"/>
                  </a:lnTo>
                  <a:lnTo>
                    <a:pt x="1319" y="3786"/>
                  </a:lnTo>
                  <a:lnTo>
                    <a:pt x="1295" y="4006"/>
                  </a:lnTo>
                  <a:lnTo>
                    <a:pt x="245" y="4494"/>
                  </a:lnTo>
                  <a:lnTo>
                    <a:pt x="196" y="4519"/>
                  </a:lnTo>
                  <a:lnTo>
                    <a:pt x="123" y="4568"/>
                  </a:lnTo>
                  <a:lnTo>
                    <a:pt x="49" y="4714"/>
                  </a:lnTo>
                  <a:lnTo>
                    <a:pt x="0" y="4861"/>
                  </a:lnTo>
                  <a:lnTo>
                    <a:pt x="25" y="4934"/>
                  </a:lnTo>
                  <a:lnTo>
                    <a:pt x="25" y="5007"/>
                  </a:lnTo>
                  <a:lnTo>
                    <a:pt x="220" y="5545"/>
                  </a:lnTo>
                  <a:lnTo>
                    <a:pt x="245" y="5594"/>
                  </a:lnTo>
                  <a:lnTo>
                    <a:pt x="293" y="5667"/>
                  </a:lnTo>
                  <a:lnTo>
                    <a:pt x="391" y="5764"/>
                  </a:lnTo>
                  <a:lnTo>
                    <a:pt x="538" y="5813"/>
                  </a:lnTo>
                  <a:lnTo>
                    <a:pt x="684" y="5813"/>
                  </a:lnTo>
                  <a:lnTo>
                    <a:pt x="1832" y="5569"/>
                  </a:lnTo>
                  <a:lnTo>
                    <a:pt x="1954" y="5740"/>
                  </a:lnTo>
                  <a:lnTo>
                    <a:pt x="2101" y="5887"/>
                  </a:lnTo>
                  <a:lnTo>
                    <a:pt x="1710" y="6986"/>
                  </a:lnTo>
                  <a:lnTo>
                    <a:pt x="1686" y="7059"/>
                  </a:lnTo>
                  <a:lnTo>
                    <a:pt x="1686" y="7132"/>
                  </a:lnTo>
                  <a:lnTo>
                    <a:pt x="1710" y="7279"/>
                  </a:lnTo>
                  <a:lnTo>
                    <a:pt x="1783" y="7401"/>
                  </a:lnTo>
                  <a:lnTo>
                    <a:pt x="1857" y="7450"/>
                  </a:lnTo>
                  <a:lnTo>
                    <a:pt x="1905" y="7499"/>
                  </a:lnTo>
                  <a:lnTo>
                    <a:pt x="2418" y="7743"/>
                  </a:lnTo>
                  <a:lnTo>
                    <a:pt x="2492" y="7792"/>
                  </a:lnTo>
                  <a:lnTo>
                    <a:pt x="2711" y="7792"/>
                  </a:lnTo>
                  <a:lnTo>
                    <a:pt x="2858" y="7718"/>
                  </a:lnTo>
                  <a:lnTo>
                    <a:pt x="2907" y="7669"/>
                  </a:lnTo>
                  <a:lnTo>
                    <a:pt x="2956" y="7621"/>
                  </a:lnTo>
                  <a:lnTo>
                    <a:pt x="3591" y="6644"/>
                  </a:lnTo>
                  <a:lnTo>
                    <a:pt x="3810" y="6668"/>
                  </a:lnTo>
                  <a:lnTo>
                    <a:pt x="4006" y="6668"/>
                  </a:lnTo>
                  <a:lnTo>
                    <a:pt x="4494" y="7718"/>
                  </a:lnTo>
                  <a:lnTo>
                    <a:pt x="4543" y="7792"/>
                  </a:lnTo>
                  <a:lnTo>
                    <a:pt x="4592" y="7840"/>
                  </a:lnTo>
                  <a:lnTo>
                    <a:pt x="4714" y="7914"/>
                  </a:lnTo>
                  <a:lnTo>
                    <a:pt x="4861" y="7963"/>
                  </a:lnTo>
                  <a:lnTo>
                    <a:pt x="4934" y="7963"/>
                  </a:lnTo>
                  <a:lnTo>
                    <a:pt x="5007" y="7938"/>
                  </a:lnTo>
                  <a:lnTo>
                    <a:pt x="5544" y="7767"/>
                  </a:lnTo>
                  <a:lnTo>
                    <a:pt x="5618" y="7743"/>
                  </a:lnTo>
                  <a:lnTo>
                    <a:pt x="5667" y="7694"/>
                  </a:lnTo>
                  <a:lnTo>
                    <a:pt x="5764" y="7572"/>
                  </a:lnTo>
                  <a:lnTo>
                    <a:pt x="5838" y="7425"/>
                  </a:lnTo>
                  <a:lnTo>
                    <a:pt x="5838" y="7352"/>
                  </a:lnTo>
                  <a:lnTo>
                    <a:pt x="5838" y="7279"/>
                  </a:lnTo>
                  <a:lnTo>
                    <a:pt x="5593" y="6131"/>
                  </a:lnTo>
                  <a:lnTo>
                    <a:pt x="5740" y="6009"/>
                  </a:lnTo>
                  <a:lnTo>
                    <a:pt x="5911" y="5862"/>
                  </a:lnTo>
                  <a:lnTo>
                    <a:pt x="6985" y="6277"/>
                  </a:lnTo>
                  <a:lnTo>
                    <a:pt x="7059" y="6277"/>
                  </a:lnTo>
                  <a:lnTo>
                    <a:pt x="7132" y="6302"/>
                  </a:lnTo>
                  <a:lnTo>
                    <a:pt x="7278" y="6253"/>
                  </a:lnTo>
                  <a:lnTo>
                    <a:pt x="7425" y="6180"/>
                  </a:lnTo>
                  <a:lnTo>
                    <a:pt x="7474" y="6131"/>
                  </a:lnTo>
                  <a:lnTo>
                    <a:pt x="7523" y="6058"/>
                  </a:lnTo>
                  <a:lnTo>
                    <a:pt x="7767" y="5545"/>
                  </a:lnTo>
                  <a:lnTo>
                    <a:pt x="7791" y="5496"/>
                  </a:lnTo>
                  <a:lnTo>
                    <a:pt x="7816" y="5398"/>
                  </a:lnTo>
                  <a:lnTo>
                    <a:pt x="7791" y="5252"/>
                  </a:lnTo>
                  <a:lnTo>
                    <a:pt x="7718" y="5129"/>
                  </a:lnTo>
                  <a:lnTo>
                    <a:pt x="7669" y="5056"/>
                  </a:lnTo>
                  <a:lnTo>
                    <a:pt x="7620" y="5007"/>
                  </a:lnTo>
                  <a:lnTo>
                    <a:pt x="6643" y="4372"/>
                  </a:lnTo>
                  <a:lnTo>
                    <a:pt x="6668" y="4177"/>
                  </a:lnTo>
                  <a:lnTo>
                    <a:pt x="6668" y="3957"/>
                  </a:lnTo>
                  <a:lnTo>
                    <a:pt x="7718" y="3469"/>
                  </a:lnTo>
                  <a:lnTo>
                    <a:pt x="7791" y="3444"/>
                  </a:lnTo>
                  <a:lnTo>
                    <a:pt x="7865" y="3395"/>
                  </a:lnTo>
                  <a:lnTo>
                    <a:pt x="7938" y="3249"/>
                  </a:lnTo>
                  <a:lnTo>
                    <a:pt x="7962" y="3102"/>
                  </a:lnTo>
                  <a:lnTo>
                    <a:pt x="7962" y="3029"/>
                  </a:lnTo>
                  <a:lnTo>
                    <a:pt x="7962" y="2956"/>
                  </a:lnTo>
                  <a:lnTo>
                    <a:pt x="7767" y="2419"/>
                  </a:lnTo>
                  <a:lnTo>
                    <a:pt x="7743" y="2345"/>
                  </a:lnTo>
                  <a:lnTo>
                    <a:pt x="7694" y="2296"/>
                  </a:lnTo>
                  <a:lnTo>
                    <a:pt x="7572" y="2199"/>
                  </a:lnTo>
                  <a:lnTo>
                    <a:pt x="7449" y="2150"/>
                  </a:lnTo>
                  <a:lnTo>
                    <a:pt x="7278" y="2150"/>
                  </a:lnTo>
                  <a:lnTo>
                    <a:pt x="6155" y="2394"/>
                  </a:lnTo>
                  <a:lnTo>
                    <a:pt x="6033" y="2223"/>
                  </a:lnTo>
                  <a:lnTo>
                    <a:pt x="5886" y="2077"/>
                  </a:lnTo>
                  <a:lnTo>
                    <a:pt x="6277" y="978"/>
                  </a:lnTo>
                  <a:lnTo>
                    <a:pt x="6302" y="904"/>
                  </a:lnTo>
                  <a:lnTo>
                    <a:pt x="6302" y="831"/>
                  </a:lnTo>
                  <a:lnTo>
                    <a:pt x="6277" y="684"/>
                  </a:lnTo>
                  <a:lnTo>
                    <a:pt x="6179" y="562"/>
                  </a:lnTo>
                  <a:lnTo>
                    <a:pt x="6131" y="489"/>
                  </a:lnTo>
                  <a:lnTo>
                    <a:pt x="6082" y="465"/>
                  </a:lnTo>
                  <a:lnTo>
                    <a:pt x="5569" y="196"/>
                  </a:lnTo>
                  <a:lnTo>
                    <a:pt x="5496" y="172"/>
                  </a:lnTo>
                  <a:lnTo>
                    <a:pt x="5276" y="172"/>
                  </a:lnTo>
                  <a:lnTo>
                    <a:pt x="5129" y="245"/>
                  </a:lnTo>
                  <a:lnTo>
                    <a:pt x="5080" y="294"/>
                  </a:lnTo>
                  <a:lnTo>
                    <a:pt x="5032" y="343"/>
                  </a:lnTo>
                  <a:lnTo>
                    <a:pt x="4397" y="1319"/>
                  </a:lnTo>
                  <a:lnTo>
                    <a:pt x="4177" y="1295"/>
                  </a:lnTo>
                  <a:lnTo>
                    <a:pt x="3981" y="1295"/>
                  </a:lnTo>
                  <a:lnTo>
                    <a:pt x="3493" y="245"/>
                  </a:lnTo>
                  <a:lnTo>
                    <a:pt x="3444" y="172"/>
                  </a:lnTo>
                  <a:lnTo>
                    <a:pt x="3395" y="123"/>
                  </a:lnTo>
                  <a:lnTo>
                    <a:pt x="3273" y="49"/>
                  </a:lnTo>
                  <a:lnTo>
                    <a:pt x="312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 name="Google Shape;106;p18"/>
          <p:cNvSpPr txBox="1"/>
          <p:nvPr/>
        </p:nvSpPr>
        <p:spPr>
          <a:xfrm>
            <a:off x="482550" y="569025"/>
            <a:ext cx="3742500" cy="390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600"/>
              <a:t>EXISTING SYSTEM</a:t>
            </a:r>
            <a:endParaRPr b="1" sz="1600"/>
          </a:p>
          <a:p>
            <a:pPr indent="-298450" lvl="0" marL="457200" rtl="0" algn="l">
              <a:lnSpc>
                <a:spcPct val="115000"/>
              </a:lnSpc>
              <a:spcBef>
                <a:spcPts val="1200"/>
              </a:spcBef>
              <a:spcAft>
                <a:spcPts val="0"/>
              </a:spcAft>
              <a:buSzPts val="1100"/>
              <a:buChar char="●"/>
            </a:pPr>
            <a:r>
              <a:rPr lang="en" sz="1100"/>
              <a:t>Provides only static job listings and historical reports</a:t>
            </a:r>
            <a:br>
              <a:rPr lang="en" sz="1100"/>
            </a:br>
            <a:endParaRPr sz="1100"/>
          </a:p>
          <a:p>
            <a:pPr indent="-298450" lvl="0" marL="457200" rtl="0" algn="l">
              <a:lnSpc>
                <a:spcPct val="115000"/>
              </a:lnSpc>
              <a:spcBef>
                <a:spcPts val="0"/>
              </a:spcBef>
              <a:spcAft>
                <a:spcPts val="0"/>
              </a:spcAft>
              <a:buSzPts val="1100"/>
              <a:buChar char="●"/>
            </a:pPr>
            <a:r>
              <a:rPr lang="en" sz="1100"/>
              <a:t>Job demand insights are based on past data, not future trends</a:t>
            </a:r>
            <a:br>
              <a:rPr lang="en" sz="1100"/>
            </a:br>
            <a:endParaRPr sz="1100"/>
          </a:p>
          <a:p>
            <a:pPr indent="-298450" lvl="0" marL="457200" rtl="0" algn="l">
              <a:lnSpc>
                <a:spcPct val="115000"/>
              </a:lnSpc>
              <a:spcBef>
                <a:spcPts val="0"/>
              </a:spcBef>
              <a:spcAft>
                <a:spcPts val="0"/>
              </a:spcAft>
              <a:buSzPts val="1100"/>
              <a:buChar char="●"/>
            </a:pPr>
            <a:r>
              <a:rPr lang="en" sz="1100"/>
              <a:t>No prediction of job demand or hiring growth is available</a:t>
            </a:r>
            <a:br>
              <a:rPr lang="en" sz="1100"/>
            </a:br>
            <a:endParaRPr sz="1100"/>
          </a:p>
          <a:p>
            <a:pPr indent="-298450" lvl="0" marL="457200" rtl="0" algn="l">
              <a:lnSpc>
                <a:spcPct val="115000"/>
              </a:lnSpc>
              <a:spcBef>
                <a:spcPts val="0"/>
              </a:spcBef>
              <a:spcAft>
                <a:spcPts val="0"/>
              </a:spcAft>
              <a:buSzPts val="1100"/>
              <a:buChar char="●"/>
            </a:pPr>
            <a:r>
              <a:rPr lang="en" sz="1100"/>
              <a:t>Does not effectively use machine learning or advanced analytics</a:t>
            </a:r>
            <a:br>
              <a:rPr lang="en" sz="1100"/>
            </a:br>
            <a:endParaRPr sz="1100"/>
          </a:p>
          <a:p>
            <a:pPr indent="-298450" lvl="0" marL="457200" rtl="0" algn="l">
              <a:lnSpc>
                <a:spcPct val="115000"/>
              </a:lnSpc>
              <a:spcBef>
                <a:spcPts val="0"/>
              </a:spcBef>
              <a:spcAft>
                <a:spcPts val="0"/>
              </a:spcAft>
              <a:buSzPts val="1100"/>
              <a:buChar char="●"/>
            </a:pPr>
            <a:r>
              <a:rPr lang="en" sz="1100"/>
              <a:t>Limited consideration of factors like skills evolution, location, and industry trends</a:t>
            </a:r>
            <a:br>
              <a:rPr lang="en" sz="1100"/>
            </a:br>
            <a:endParaRPr sz="1100"/>
          </a:p>
          <a:p>
            <a:pPr indent="-298450" lvl="0" marL="457200" rtl="0" algn="l">
              <a:lnSpc>
                <a:spcPct val="115000"/>
              </a:lnSpc>
              <a:spcBef>
                <a:spcPts val="0"/>
              </a:spcBef>
              <a:spcAft>
                <a:spcPts val="0"/>
              </a:spcAft>
              <a:buSzPts val="1100"/>
              <a:buChar char="●"/>
            </a:pPr>
            <a:r>
              <a:rPr lang="en" sz="1100"/>
              <a:t>Job seekers cannot clearly understand future demand for specific roles</a:t>
            </a:r>
            <a:endParaRPr sz="2400">
              <a:solidFill>
                <a:schemeClr val="dk2"/>
              </a:solidFill>
              <a:latin typeface="Raleway Light"/>
              <a:ea typeface="Raleway Light"/>
              <a:cs typeface="Raleway Light"/>
              <a:sym typeface="Raleway Light"/>
            </a:endParaRPr>
          </a:p>
        </p:txBody>
      </p:sp>
      <p:sp>
        <p:nvSpPr>
          <p:cNvPr id="107" name="Google Shape;107;p18"/>
          <p:cNvSpPr txBox="1"/>
          <p:nvPr/>
        </p:nvSpPr>
        <p:spPr>
          <a:xfrm>
            <a:off x="4318200" y="569025"/>
            <a:ext cx="3904200" cy="402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700"/>
              <a:t>LIMITATIONS OF EXISTING SYSTEM</a:t>
            </a:r>
            <a:endParaRPr b="1" sz="1700"/>
          </a:p>
          <a:p>
            <a:pPr indent="-298450" lvl="0" marL="457200" rtl="0" algn="l">
              <a:lnSpc>
                <a:spcPct val="115000"/>
              </a:lnSpc>
              <a:spcBef>
                <a:spcPts val="1200"/>
              </a:spcBef>
              <a:spcAft>
                <a:spcPts val="0"/>
              </a:spcAft>
              <a:buSzPts val="1100"/>
              <a:buChar char="●"/>
            </a:pPr>
            <a:r>
              <a:rPr lang="en" sz="1100"/>
              <a:t>Cannot predict future job demand levels</a:t>
            </a:r>
            <a:br>
              <a:rPr lang="en" sz="1100"/>
            </a:br>
            <a:endParaRPr sz="1100"/>
          </a:p>
          <a:p>
            <a:pPr indent="-298450" lvl="0" marL="457200" rtl="0" algn="l">
              <a:lnSpc>
                <a:spcPct val="115000"/>
              </a:lnSpc>
              <a:spcBef>
                <a:spcPts val="0"/>
              </a:spcBef>
              <a:spcAft>
                <a:spcPts val="0"/>
              </a:spcAft>
              <a:buSzPts val="1100"/>
              <a:buChar char="●"/>
            </a:pPr>
            <a:r>
              <a:rPr lang="en" sz="1100"/>
              <a:t>Ignores rapid changes in technology and market requirements</a:t>
            </a:r>
            <a:br>
              <a:rPr lang="en" sz="1100"/>
            </a:br>
            <a:endParaRPr sz="1100"/>
          </a:p>
          <a:p>
            <a:pPr indent="-298450" lvl="0" marL="457200" rtl="0" algn="l">
              <a:lnSpc>
                <a:spcPct val="115000"/>
              </a:lnSpc>
              <a:spcBef>
                <a:spcPts val="0"/>
              </a:spcBef>
              <a:spcAft>
                <a:spcPts val="0"/>
              </a:spcAft>
              <a:buSzPts val="1100"/>
              <a:buChar char="●"/>
            </a:pPr>
            <a:r>
              <a:rPr lang="en" sz="1100"/>
              <a:t>Does not analyze large-scale job posting data effectively</a:t>
            </a:r>
            <a:br>
              <a:rPr lang="en" sz="1100"/>
            </a:br>
            <a:endParaRPr sz="1100"/>
          </a:p>
          <a:p>
            <a:pPr indent="-298450" lvl="0" marL="457200" rtl="0" algn="l">
              <a:lnSpc>
                <a:spcPct val="115000"/>
              </a:lnSpc>
              <a:spcBef>
                <a:spcPts val="0"/>
              </a:spcBef>
              <a:spcAft>
                <a:spcPts val="0"/>
              </a:spcAft>
              <a:buSzPts val="1100"/>
              <a:buChar char="●"/>
            </a:pPr>
            <a:r>
              <a:rPr lang="en" sz="1100"/>
              <a:t>Demand insights are often outdated or inaccurate</a:t>
            </a:r>
            <a:br>
              <a:rPr lang="en" sz="1100"/>
            </a:br>
            <a:endParaRPr sz="1100"/>
          </a:p>
          <a:p>
            <a:pPr indent="-298450" lvl="0" marL="457200" rtl="0" algn="l">
              <a:lnSpc>
                <a:spcPct val="115000"/>
              </a:lnSpc>
              <a:spcBef>
                <a:spcPts val="0"/>
              </a:spcBef>
              <a:spcAft>
                <a:spcPts val="0"/>
              </a:spcAft>
              <a:buSzPts val="1100"/>
              <a:buChar char="●"/>
            </a:pPr>
            <a:r>
              <a:rPr lang="en" sz="1100"/>
              <a:t>No explanation of factors influencing job demand</a:t>
            </a:r>
            <a:br>
              <a:rPr lang="en" sz="1100"/>
            </a:br>
            <a:endParaRPr sz="1100"/>
          </a:p>
          <a:p>
            <a:pPr indent="-298450" lvl="0" marL="457200" rtl="0" algn="l">
              <a:lnSpc>
                <a:spcPct val="115000"/>
              </a:lnSpc>
              <a:spcBef>
                <a:spcPts val="0"/>
              </a:spcBef>
              <a:spcAft>
                <a:spcPts val="0"/>
              </a:spcAft>
              <a:buSzPts val="1100"/>
              <a:buChar char="●"/>
            </a:pPr>
            <a:r>
              <a:rPr lang="en" sz="1100"/>
              <a:t>Makes career planning and workforce forecasting difficult</a:t>
            </a:r>
            <a:endParaRPr sz="1100"/>
          </a:p>
          <a:p>
            <a:pPr indent="0" lvl="0" marL="0" rtl="0" algn="l">
              <a:spcBef>
                <a:spcPts val="1200"/>
              </a:spcBef>
              <a:spcAft>
                <a:spcPts val="0"/>
              </a:spcAft>
              <a:buNone/>
            </a:pPr>
            <a:r>
              <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nvSpPr>
        <p:spPr>
          <a:xfrm>
            <a:off x="805325" y="632275"/>
            <a:ext cx="7640700" cy="403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700"/>
              <a:t>PROPOSED SYSTEM</a:t>
            </a:r>
            <a:endParaRPr b="1" sz="1700"/>
          </a:p>
          <a:p>
            <a:pPr indent="-298450" lvl="0" marL="457200" rtl="0" algn="l">
              <a:lnSpc>
                <a:spcPct val="115000"/>
              </a:lnSpc>
              <a:spcBef>
                <a:spcPts val="1200"/>
              </a:spcBef>
              <a:spcAft>
                <a:spcPts val="0"/>
              </a:spcAft>
              <a:buSzPts val="1100"/>
              <a:buChar char="●"/>
            </a:pPr>
            <a:r>
              <a:rPr lang="en" sz="1100"/>
              <a:t>Predicts future job demand levels for various roles</a:t>
            </a:r>
            <a:br>
              <a:rPr lang="en" sz="1100"/>
            </a:br>
            <a:endParaRPr sz="1100"/>
          </a:p>
          <a:p>
            <a:pPr indent="-298450" lvl="0" marL="457200" rtl="0" algn="l">
              <a:lnSpc>
                <a:spcPct val="115000"/>
              </a:lnSpc>
              <a:spcBef>
                <a:spcPts val="0"/>
              </a:spcBef>
              <a:spcAft>
                <a:spcPts val="0"/>
              </a:spcAft>
              <a:buSzPts val="1100"/>
              <a:buChar char="●"/>
            </a:pPr>
            <a:r>
              <a:rPr lang="en" sz="1100"/>
              <a:t>Uses </a:t>
            </a:r>
            <a:r>
              <a:rPr b="1" lang="en" sz="1100"/>
              <a:t>Machine Learning algorithms</a:t>
            </a:r>
            <a:r>
              <a:rPr lang="en" sz="1100"/>
              <a:t> to analyze job market trends</a:t>
            </a:r>
            <a:br>
              <a:rPr lang="en" sz="1100"/>
            </a:br>
            <a:endParaRPr sz="1100"/>
          </a:p>
          <a:p>
            <a:pPr indent="-298450" lvl="0" marL="457200" rtl="0" algn="l">
              <a:lnSpc>
                <a:spcPct val="115000"/>
              </a:lnSpc>
              <a:spcBef>
                <a:spcPts val="0"/>
              </a:spcBef>
              <a:spcAft>
                <a:spcPts val="0"/>
              </a:spcAft>
              <a:buSzPts val="1100"/>
              <a:buChar char="●"/>
            </a:pPr>
            <a:r>
              <a:rPr lang="en" sz="1100"/>
              <a:t>Considers multiple factors such as skills, experience, location, and industry domain</a:t>
            </a:r>
            <a:br>
              <a:rPr lang="en" sz="1100"/>
            </a:br>
            <a:endParaRPr sz="1100"/>
          </a:p>
          <a:p>
            <a:pPr indent="-298450" lvl="0" marL="457200" rtl="0" algn="l">
              <a:lnSpc>
                <a:spcPct val="115000"/>
              </a:lnSpc>
              <a:spcBef>
                <a:spcPts val="0"/>
              </a:spcBef>
              <a:spcAft>
                <a:spcPts val="0"/>
              </a:spcAft>
              <a:buSzPts val="1100"/>
              <a:buChar char="●"/>
            </a:pPr>
            <a:r>
              <a:rPr lang="en" sz="1100"/>
              <a:t>Supports analysis across different job categories and sectors</a:t>
            </a:r>
            <a:br>
              <a:rPr lang="en" sz="1100"/>
            </a:br>
            <a:endParaRPr sz="1100"/>
          </a:p>
          <a:p>
            <a:pPr indent="-298450" lvl="0" marL="457200" rtl="0" algn="l">
              <a:lnSpc>
                <a:spcPct val="115000"/>
              </a:lnSpc>
              <a:spcBef>
                <a:spcPts val="0"/>
              </a:spcBef>
              <a:spcAft>
                <a:spcPts val="0"/>
              </a:spcAft>
              <a:buSzPts val="1100"/>
              <a:buChar char="●"/>
            </a:pPr>
            <a:r>
              <a:rPr lang="en" sz="1100"/>
              <a:t>Provides demand insights instead of only historical job statistics</a:t>
            </a:r>
            <a:br>
              <a:rPr lang="en" sz="1100"/>
            </a:br>
            <a:endParaRPr sz="1100"/>
          </a:p>
          <a:p>
            <a:pPr indent="-298450" lvl="0" marL="457200" rtl="0" algn="l">
              <a:lnSpc>
                <a:spcPct val="115000"/>
              </a:lnSpc>
              <a:spcBef>
                <a:spcPts val="0"/>
              </a:spcBef>
              <a:spcAft>
                <a:spcPts val="0"/>
              </a:spcAft>
              <a:buSzPts val="1100"/>
              <a:buChar char="●"/>
            </a:pPr>
            <a:r>
              <a:rPr lang="en" sz="1100"/>
              <a:t>Explains influencing factors affecting job demand (skills trend, industry growth, location)</a:t>
            </a:r>
            <a:br>
              <a:rPr lang="en" sz="1100"/>
            </a:br>
            <a:endParaRPr sz="1100"/>
          </a:p>
          <a:p>
            <a:pPr indent="-298450" lvl="0" marL="457200" rtl="0" algn="l">
              <a:lnSpc>
                <a:spcPct val="115000"/>
              </a:lnSpc>
              <a:spcBef>
                <a:spcPts val="0"/>
              </a:spcBef>
              <a:spcAft>
                <a:spcPts val="0"/>
              </a:spcAft>
              <a:buSzPts val="1100"/>
              <a:buChar char="●"/>
            </a:pPr>
            <a:r>
              <a:rPr lang="en" sz="1100"/>
              <a:t>Implemented as a user-friendly web application</a:t>
            </a:r>
            <a:br>
              <a:rPr lang="en" sz="1100"/>
            </a:br>
            <a:endParaRPr sz="1100"/>
          </a:p>
          <a:p>
            <a:pPr indent="-298450" lvl="0" marL="457200" rtl="0" algn="l">
              <a:lnSpc>
                <a:spcPct val="115000"/>
              </a:lnSpc>
              <a:spcBef>
                <a:spcPts val="0"/>
              </a:spcBef>
              <a:spcAft>
                <a:spcPts val="0"/>
              </a:spcAft>
              <a:buSzPts val="1100"/>
              <a:buChar char="●"/>
            </a:pPr>
            <a:r>
              <a:rPr lang="en" sz="1100"/>
              <a:t>Helps job seekers and recruiters make better career and hiring decisions</a:t>
            </a:r>
            <a:endParaRPr sz="1100"/>
          </a:p>
          <a:p>
            <a:pPr indent="0" lvl="0" marL="0" rtl="0" algn="l">
              <a:spcBef>
                <a:spcPts val="1200"/>
              </a:spcBef>
              <a:spcAft>
                <a:spcPts val="0"/>
              </a:spcAft>
              <a:buNone/>
            </a:pPr>
            <a:r>
              <a:t/>
            </a:r>
            <a:endParaRPr sz="1800">
              <a:solidFill>
                <a:schemeClr val="dk2"/>
              </a:solidFill>
              <a:latin typeface="Raleway Light"/>
              <a:ea typeface="Raleway Light"/>
              <a:cs typeface="Raleway Light"/>
              <a:sym typeface="Raleway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nvSpPr>
        <p:spPr>
          <a:xfrm>
            <a:off x="693550" y="553050"/>
            <a:ext cx="3764400" cy="374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a:t>ADVANTAGES OF PROPOSED SYSTEM</a:t>
            </a:r>
            <a:endParaRPr b="1"/>
          </a:p>
          <a:p>
            <a:pPr indent="-292100" lvl="0" marL="457200" rtl="0" algn="l">
              <a:lnSpc>
                <a:spcPct val="115000"/>
              </a:lnSpc>
              <a:spcBef>
                <a:spcPts val="1200"/>
              </a:spcBef>
              <a:spcAft>
                <a:spcPts val="0"/>
              </a:spcAft>
              <a:buSzPts val="1000"/>
              <a:buChar char="●"/>
            </a:pPr>
            <a:r>
              <a:rPr lang="en" sz="1000"/>
              <a:t>Provides accurate job demand prediction using machine learning</a:t>
            </a:r>
            <a:br>
              <a:rPr lang="en" sz="1000"/>
            </a:br>
            <a:endParaRPr sz="1000"/>
          </a:p>
          <a:p>
            <a:pPr indent="-292100" lvl="0" marL="457200" rtl="0" algn="l">
              <a:lnSpc>
                <a:spcPct val="115000"/>
              </a:lnSpc>
              <a:spcBef>
                <a:spcPts val="0"/>
              </a:spcBef>
              <a:spcAft>
                <a:spcPts val="0"/>
              </a:spcAft>
              <a:buSzPts val="1000"/>
              <a:buChar char="●"/>
            </a:pPr>
            <a:r>
              <a:rPr lang="en" sz="1000"/>
              <a:t>Identifies future demand trends instead of only historical insights</a:t>
            </a:r>
            <a:br>
              <a:rPr lang="en" sz="1000"/>
            </a:br>
            <a:endParaRPr sz="1000"/>
          </a:p>
          <a:p>
            <a:pPr indent="-292100" lvl="0" marL="457200" rtl="0" algn="l">
              <a:lnSpc>
                <a:spcPct val="115000"/>
              </a:lnSpc>
              <a:spcBef>
                <a:spcPts val="0"/>
              </a:spcBef>
              <a:spcAft>
                <a:spcPts val="0"/>
              </a:spcAft>
              <a:buSzPts val="1000"/>
              <a:buChar char="●"/>
            </a:pPr>
            <a:r>
              <a:rPr lang="en" sz="1000"/>
              <a:t>Considers multiple factors such as skills, experience, industry, and location</a:t>
            </a:r>
            <a:br>
              <a:rPr lang="en" sz="1000"/>
            </a:br>
            <a:endParaRPr sz="1000"/>
          </a:p>
          <a:p>
            <a:pPr indent="-292100" lvl="0" marL="457200" rtl="0" algn="l">
              <a:lnSpc>
                <a:spcPct val="115000"/>
              </a:lnSpc>
              <a:spcBef>
                <a:spcPts val="0"/>
              </a:spcBef>
              <a:spcAft>
                <a:spcPts val="0"/>
              </a:spcAft>
              <a:buSzPts val="1000"/>
              <a:buChar char="●"/>
            </a:pPr>
            <a:r>
              <a:rPr lang="en" sz="1000"/>
              <a:t>Reduces uncertainty in career planning for job seekers</a:t>
            </a:r>
            <a:br>
              <a:rPr lang="en" sz="1000"/>
            </a:br>
            <a:endParaRPr sz="1000"/>
          </a:p>
          <a:p>
            <a:pPr indent="-292100" lvl="0" marL="457200" rtl="0" algn="l">
              <a:lnSpc>
                <a:spcPct val="115000"/>
              </a:lnSpc>
              <a:spcBef>
                <a:spcPts val="0"/>
              </a:spcBef>
              <a:spcAft>
                <a:spcPts val="0"/>
              </a:spcAft>
              <a:buSzPts val="1000"/>
              <a:buChar char="●"/>
            </a:pPr>
            <a:r>
              <a:rPr lang="en" sz="1000"/>
              <a:t>Supports better workforce planning and recruitment decisions</a:t>
            </a:r>
            <a:endParaRPr sz="1000"/>
          </a:p>
          <a:p>
            <a:pPr indent="-292100" lvl="0" marL="457200" rtl="0" algn="l">
              <a:lnSpc>
                <a:spcPct val="115000"/>
              </a:lnSpc>
              <a:spcBef>
                <a:spcPts val="0"/>
              </a:spcBef>
              <a:spcAft>
                <a:spcPts val="0"/>
              </a:spcAft>
              <a:buSzPts val="1000"/>
              <a:buChar char="●"/>
            </a:pPr>
            <a:r>
              <a:rPr lang="en" sz="1000"/>
              <a:t>Easy-to-use web-based application</a:t>
            </a:r>
            <a:br>
              <a:rPr lang="en" sz="1000"/>
            </a:br>
            <a:endParaRPr sz="1000"/>
          </a:p>
          <a:p>
            <a:pPr indent="-292100" lvl="0" marL="457200" rtl="0" algn="l">
              <a:lnSpc>
                <a:spcPct val="115000"/>
              </a:lnSpc>
              <a:spcBef>
                <a:spcPts val="0"/>
              </a:spcBef>
              <a:spcAft>
                <a:spcPts val="0"/>
              </a:spcAft>
              <a:buSzPts val="1000"/>
              <a:buChar char="●"/>
            </a:pPr>
            <a:r>
              <a:rPr lang="en" sz="1000"/>
              <a:t>Supports analysis across multiple job roles and domains</a:t>
            </a:r>
            <a:endParaRPr sz="1000"/>
          </a:p>
          <a:p>
            <a:pPr indent="-292100" lvl="0" marL="457200" rtl="0" algn="l">
              <a:lnSpc>
                <a:spcPct val="115000"/>
              </a:lnSpc>
              <a:spcBef>
                <a:spcPts val="0"/>
              </a:spcBef>
              <a:spcAft>
                <a:spcPts val="0"/>
              </a:spcAft>
              <a:buSzPts val="1000"/>
              <a:buChar char="●"/>
            </a:pPr>
            <a:r>
              <a:rPr lang="en" sz="1000"/>
              <a:t>Useful for both job seekers and recruiters</a:t>
            </a:r>
            <a:endParaRPr sz="1000"/>
          </a:p>
        </p:txBody>
      </p:sp>
      <p:sp>
        <p:nvSpPr>
          <p:cNvPr id="118" name="Google Shape;118;p20"/>
          <p:cNvSpPr txBox="1"/>
          <p:nvPr/>
        </p:nvSpPr>
        <p:spPr>
          <a:xfrm>
            <a:off x="4737475" y="553050"/>
            <a:ext cx="3764400" cy="347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a:t>LIMITATIONS OF PROPOSED SYSTEM</a:t>
            </a:r>
            <a:endParaRPr b="1"/>
          </a:p>
          <a:p>
            <a:pPr indent="-292100" lvl="0" marL="457200" rtl="0" algn="l">
              <a:lnSpc>
                <a:spcPct val="115000"/>
              </a:lnSpc>
              <a:spcBef>
                <a:spcPts val="1200"/>
              </a:spcBef>
              <a:spcAft>
                <a:spcPts val="0"/>
              </a:spcAft>
              <a:buSzPts val="1000"/>
              <a:buChar char="●"/>
            </a:pPr>
            <a:r>
              <a:rPr lang="en" sz="1000"/>
              <a:t>Prediction accuracy depends on the quality and size of historical job data</a:t>
            </a:r>
            <a:br>
              <a:rPr lang="en" sz="1000"/>
            </a:br>
            <a:endParaRPr sz="1000"/>
          </a:p>
          <a:p>
            <a:pPr indent="-292100" lvl="0" marL="457200" rtl="0" algn="l">
              <a:lnSpc>
                <a:spcPct val="115000"/>
              </a:lnSpc>
              <a:spcBef>
                <a:spcPts val="0"/>
              </a:spcBef>
              <a:spcAft>
                <a:spcPts val="0"/>
              </a:spcAft>
              <a:buSzPts val="1000"/>
              <a:buChar char="●"/>
            </a:pPr>
            <a:r>
              <a:rPr lang="en" sz="1000"/>
              <a:t>Real-time job market changes may not be fully captured</a:t>
            </a:r>
            <a:br>
              <a:rPr lang="en" sz="1000"/>
            </a:br>
            <a:endParaRPr sz="1000"/>
          </a:p>
          <a:p>
            <a:pPr indent="-292100" lvl="0" marL="457200" rtl="0" algn="l">
              <a:lnSpc>
                <a:spcPct val="115000"/>
              </a:lnSpc>
              <a:spcBef>
                <a:spcPts val="0"/>
              </a:spcBef>
              <a:spcAft>
                <a:spcPts val="0"/>
              </a:spcAft>
              <a:buSzPts val="1000"/>
              <a:buChar char="●"/>
            </a:pPr>
            <a:r>
              <a:rPr lang="en" sz="1000"/>
              <a:t>Sudden industry shifts or policy changes can affect prediction accuracy</a:t>
            </a:r>
            <a:br>
              <a:rPr lang="en" sz="1000"/>
            </a:br>
            <a:endParaRPr sz="1000"/>
          </a:p>
          <a:p>
            <a:pPr indent="-292100" lvl="0" marL="457200" rtl="0" algn="l">
              <a:lnSpc>
                <a:spcPct val="115000"/>
              </a:lnSpc>
              <a:spcBef>
                <a:spcPts val="0"/>
              </a:spcBef>
              <a:spcAft>
                <a:spcPts val="0"/>
              </a:spcAft>
              <a:buSzPts val="1000"/>
              <a:buChar char="●"/>
            </a:pPr>
            <a:r>
              <a:rPr lang="en" sz="1000"/>
              <a:t>Limited availability of reliable datasets for certain job roles</a:t>
            </a:r>
            <a:br>
              <a:rPr lang="en" sz="1000"/>
            </a:br>
            <a:endParaRPr sz="1000"/>
          </a:p>
          <a:p>
            <a:pPr indent="-292100" lvl="0" marL="457200" rtl="0" algn="l">
              <a:lnSpc>
                <a:spcPct val="115000"/>
              </a:lnSpc>
              <a:spcBef>
                <a:spcPts val="0"/>
              </a:spcBef>
              <a:spcAft>
                <a:spcPts val="0"/>
              </a:spcAft>
              <a:buSzPts val="1000"/>
              <a:buChar char="●"/>
            </a:pPr>
            <a:r>
              <a:rPr lang="en" sz="1000"/>
              <a:t>Model performance may vary for emerging or niche technologies</a:t>
            </a:r>
            <a:br>
              <a:rPr lang="en" sz="1000"/>
            </a:br>
            <a:endParaRPr sz="1000"/>
          </a:p>
          <a:p>
            <a:pPr indent="-292100" lvl="0" marL="457200" rtl="0" algn="l">
              <a:lnSpc>
                <a:spcPct val="115000"/>
              </a:lnSpc>
              <a:spcBef>
                <a:spcPts val="0"/>
              </a:spcBef>
              <a:spcAft>
                <a:spcPts val="0"/>
              </a:spcAft>
              <a:buSzPts val="1000"/>
              <a:buChar char="●"/>
            </a:pPr>
            <a:r>
              <a:rPr lang="en" sz="1000"/>
              <a:t>Requires periodic retraining to stay updated with market trends</a:t>
            </a:r>
            <a:endParaRPr sz="1000"/>
          </a:p>
          <a:p>
            <a:pPr indent="0" lvl="0" marL="0" rtl="0" algn="l">
              <a:spcBef>
                <a:spcPts val="1200"/>
              </a:spcBef>
              <a:spcAft>
                <a:spcPts val="0"/>
              </a:spcAft>
              <a:buNone/>
            </a:pPr>
            <a:r>
              <a:t/>
            </a:r>
            <a:endParaRPr b="1" sz="1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grpSp>
        <p:nvGrpSpPr>
          <p:cNvPr id="124" name="Google Shape;124;p21"/>
          <p:cNvGrpSpPr/>
          <p:nvPr/>
        </p:nvGrpSpPr>
        <p:grpSpPr>
          <a:xfrm>
            <a:off x="7864658" y="371176"/>
            <a:ext cx="896264" cy="896314"/>
            <a:chOff x="570875" y="4322250"/>
            <a:chExt cx="443300" cy="443325"/>
          </a:xfrm>
        </p:grpSpPr>
        <p:sp>
          <p:nvSpPr>
            <p:cNvPr id="125" name="Google Shape;125;p21"/>
            <p:cNvSpPr/>
            <p:nvPr/>
          </p:nvSpPr>
          <p:spPr>
            <a:xfrm>
              <a:off x="570875" y="4322250"/>
              <a:ext cx="443300" cy="443325"/>
            </a:xfrm>
            <a:custGeom>
              <a:rect b="b" l="l" r="r" t="t"/>
              <a:pathLst>
                <a:path extrusionOk="0" h="17733" w="17732">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1"/>
            <p:cNvSpPr/>
            <p:nvPr/>
          </p:nvSpPr>
          <p:spPr>
            <a:xfrm>
              <a:off x="597725" y="4665400"/>
              <a:ext cx="73300" cy="73300"/>
            </a:xfrm>
            <a:custGeom>
              <a:rect b="b" l="l" r="r" t="t"/>
              <a:pathLst>
                <a:path extrusionOk="0" h="2932" w="2932">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1"/>
            <p:cNvSpPr/>
            <p:nvPr/>
          </p:nvSpPr>
          <p:spPr>
            <a:xfrm>
              <a:off x="654525" y="4708150"/>
              <a:ext cx="47025" cy="47025"/>
            </a:xfrm>
            <a:custGeom>
              <a:rect b="b" l="l" r="r" t="t"/>
              <a:pathLst>
                <a:path extrusionOk="0" h="1881" w="1881">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1"/>
            <p:cNvSpPr/>
            <p:nvPr/>
          </p:nvSpPr>
          <p:spPr>
            <a:xfrm>
              <a:off x="581250" y="4634875"/>
              <a:ext cx="47050" cy="47050"/>
            </a:xfrm>
            <a:custGeom>
              <a:rect b="b" l="l" r="r" t="t"/>
              <a:pathLst>
                <a:path extrusionOk="0" h="1882" w="1882">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21"/>
          <p:cNvSpPr txBox="1"/>
          <p:nvPr/>
        </p:nvSpPr>
        <p:spPr>
          <a:xfrm>
            <a:off x="485275" y="371175"/>
            <a:ext cx="4336200" cy="396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600"/>
              <a:t>SYSTEM ARCHITECTURE</a:t>
            </a:r>
            <a:endParaRPr b="1" sz="1600"/>
          </a:p>
          <a:p>
            <a:pPr indent="0" lvl="0" marL="0" rtl="0" algn="l">
              <a:lnSpc>
                <a:spcPct val="115000"/>
              </a:lnSpc>
              <a:spcBef>
                <a:spcPts val="1400"/>
              </a:spcBef>
              <a:spcAft>
                <a:spcPts val="0"/>
              </a:spcAft>
              <a:buNone/>
            </a:pPr>
            <a:r>
              <a:rPr b="1" lang="en" sz="1000"/>
              <a:t>User Interface (Web Application)</a:t>
            </a:r>
            <a:endParaRPr b="1" sz="1000"/>
          </a:p>
          <a:p>
            <a:pPr indent="-279400" lvl="0" marL="457200" rtl="0" algn="l">
              <a:lnSpc>
                <a:spcPct val="115000"/>
              </a:lnSpc>
              <a:spcBef>
                <a:spcPts val="1200"/>
              </a:spcBef>
              <a:spcAft>
                <a:spcPts val="0"/>
              </a:spcAft>
              <a:buSzPts val="800"/>
              <a:buChar char="●"/>
            </a:pPr>
            <a:r>
              <a:rPr lang="en" sz="800"/>
              <a:t>User selects job role, skills, experience level, and location</a:t>
            </a:r>
            <a:br>
              <a:rPr lang="en" sz="800"/>
            </a:br>
            <a:endParaRPr sz="800"/>
          </a:p>
          <a:p>
            <a:pPr indent="-279400" lvl="0" marL="457200" rtl="0" algn="l">
              <a:lnSpc>
                <a:spcPct val="115000"/>
              </a:lnSpc>
              <a:spcBef>
                <a:spcPts val="0"/>
              </a:spcBef>
              <a:spcAft>
                <a:spcPts val="0"/>
              </a:spcAft>
              <a:buSzPts val="800"/>
              <a:buChar char="●"/>
            </a:pPr>
            <a:r>
              <a:rPr lang="en" sz="800"/>
              <a:t>Submits input through a simple and interactive web interface</a:t>
            </a:r>
            <a:br>
              <a:rPr lang="en" sz="800"/>
            </a:br>
            <a:endParaRPr sz="800"/>
          </a:p>
          <a:p>
            <a:pPr indent="0" lvl="0" marL="0" rtl="0" algn="l">
              <a:lnSpc>
                <a:spcPct val="115000"/>
              </a:lnSpc>
              <a:spcBef>
                <a:spcPts val="1400"/>
              </a:spcBef>
              <a:spcAft>
                <a:spcPts val="0"/>
              </a:spcAft>
              <a:buNone/>
            </a:pPr>
            <a:r>
              <a:rPr b="1" lang="en" sz="1000"/>
              <a:t>Flask Backend Server</a:t>
            </a:r>
            <a:endParaRPr b="1" sz="1000"/>
          </a:p>
          <a:p>
            <a:pPr indent="-279400" lvl="0" marL="457200" rtl="0" algn="l">
              <a:lnSpc>
                <a:spcPct val="115000"/>
              </a:lnSpc>
              <a:spcBef>
                <a:spcPts val="1200"/>
              </a:spcBef>
              <a:spcAft>
                <a:spcPts val="0"/>
              </a:spcAft>
              <a:buSzPts val="800"/>
              <a:buChar char="●"/>
            </a:pPr>
            <a:r>
              <a:rPr lang="en" sz="800"/>
              <a:t>Receives user input from the web application</a:t>
            </a:r>
            <a:br>
              <a:rPr lang="en" sz="800"/>
            </a:br>
            <a:endParaRPr sz="800"/>
          </a:p>
          <a:p>
            <a:pPr indent="-279400" lvl="0" marL="457200" rtl="0" algn="l">
              <a:lnSpc>
                <a:spcPct val="115000"/>
              </a:lnSpc>
              <a:spcBef>
                <a:spcPts val="0"/>
              </a:spcBef>
              <a:spcAft>
                <a:spcPts val="0"/>
              </a:spcAft>
              <a:buSzPts val="800"/>
              <a:buChar char="●"/>
            </a:pPr>
            <a:r>
              <a:rPr lang="en" sz="800"/>
              <a:t>Handles request routing and communication between modules</a:t>
            </a:r>
            <a:br>
              <a:rPr lang="en" sz="800"/>
            </a:br>
            <a:endParaRPr sz="800"/>
          </a:p>
          <a:p>
            <a:pPr indent="0" lvl="0" marL="0" rtl="0" algn="l">
              <a:lnSpc>
                <a:spcPct val="115000"/>
              </a:lnSpc>
              <a:spcBef>
                <a:spcPts val="1400"/>
              </a:spcBef>
              <a:spcAft>
                <a:spcPts val="0"/>
              </a:spcAft>
              <a:buNone/>
            </a:pPr>
            <a:r>
              <a:rPr b="1" lang="en" sz="1000"/>
              <a:t>Data Processing Module</a:t>
            </a:r>
            <a:endParaRPr b="1" sz="1000"/>
          </a:p>
          <a:p>
            <a:pPr indent="-279400" lvl="0" marL="457200" rtl="0" algn="l">
              <a:lnSpc>
                <a:spcPct val="115000"/>
              </a:lnSpc>
              <a:spcBef>
                <a:spcPts val="1200"/>
              </a:spcBef>
              <a:spcAft>
                <a:spcPts val="0"/>
              </a:spcAft>
              <a:buSzPts val="800"/>
              <a:buChar char="●"/>
            </a:pPr>
            <a:r>
              <a:rPr lang="en" sz="800"/>
              <a:t>Cleans and preprocesses job market data</a:t>
            </a:r>
            <a:br>
              <a:rPr lang="en" sz="800"/>
            </a:br>
            <a:endParaRPr sz="800"/>
          </a:p>
          <a:p>
            <a:pPr indent="-279400" lvl="0" marL="457200" rtl="0" algn="l">
              <a:lnSpc>
                <a:spcPct val="115000"/>
              </a:lnSpc>
              <a:spcBef>
                <a:spcPts val="0"/>
              </a:spcBef>
              <a:spcAft>
                <a:spcPts val="0"/>
              </a:spcAft>
              <a:buSzPts val="800"/>
              <a:buChar char="●"/>
            </a:pPr>
            <a:r>
              <a:rPr lang="en" sz="800"/>
              <a:t>Performs feature engineering (skills encoding, experience levels, location mapping)</a:t>
            </a:r>
            <a:br>
              <a:rPr lang="en" sz="800"/>
            </a:br>
            <a:endParaRPr sz="800"/>
          </a:p>
          <a:p>
            <a:pPr indent="-279400" lvl="0" marL="457200" rtl="0" algn="l">
              <a:lnSpc>
                <a:spcPct val="115000"/>
              </a:lnSpc>
              <a:spcBef>
                <a:spcPts val="0"/>
              </a:spcBef>
              <a:spcAft>
                <a:spcPts val="0"/>
              </a:spcAft>
              <a:buSzPts val="800"/>
              <a:buChar char="●"/>
            </a:pPr>
            <a:r>
              <a:rPr lang="en" sz="800"/>
              <a:t>Prepares structured input for the machine learning model</a:t>
            </a:r>
            <a:endParaRPr sz="2700">
              <a:solidFill>
                <a:schemeClr val="dk2"/>
              </a:solidFill>
              <a:latin typeface="Raleway Light"/>
              <a:ea typeface="Raleway Light"/>
              <a:cs typeface="Raleway Light"/>
              <a:sym typeface="Raleway Light"/>
            </a:endParaRPr>
          </a:p>
        </p:txBody>
      </p:sp>
      <p:sp>
        <p:nvSpPr>
          <p:cNvPr id="130" name="Google Shape;130;p21"/>
          <p:cNvSpPr txBox="1"/>
          <p:nvPr/>
        </p:nvSpPr>
        <p:spPr>
          <a:xfrm>
            <a:off x="4448650" y="448600"/>
            <a:ext cx="4081200" cy="414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000"/>
              <a:t>Machine Learning Model</a:t>
            </a:r>
            <a:endParaRPr b="1" sz="1000"/>
          </a:p>
          <a:p>
            <a:pPr indent="-279400" lvl="0" marL="457200" rtl="0" algn="l">
              <a:lnSpc>
                <a:spcPct val="115000"/>
              </a:lnSpc>
              <a:spcBef>
                <a:spcPts val="1200"/>
              </a:spcBef>
              <a:spcAft>
                <a:spcPts val="0"/>
              </a:spcAft>
              <a:buSzPts val="800"/>
              <a:buChar char="●"/>
            </a:pPr>
            <a:r>
              <a:rPr lang="en" sz="800"/>
              <a:t>Trained using historical job market data</a:t>
            </a:r>
            <a:br>
              <a:rPr lang="en" sz="800"/>
            </a:br>
            <a:endParaRPr sz="800"/>
          </a:p>
          <a:p>
            <a:pPr indent="-279400" lvl="0" marL="457200" rtl="0" algn="l">
              <a:lnSpc>
                <a:spcPct val="115000"/>
              </a:lnSpc>
              <a:spcBef>
                <a:spcPts val="0"/>
              </a:spcBef>
              <a:spcAft>
                <a:spcPts val="0"/>
              </a:spcAft>
              <a:buSzPts val="800"/>
              <a:buChar char="●"/>
            </a:pPr>
            <a:r>
              <a:rPr lang="en" sz="800"/>
              <a:t>Predicts job demand level for selected roles</a:t>
            </a:r>
            <a:br>
              <a:rPr lang="en" sz="800"/>
            </a:br>
            <a:endParaRPr sz="800"/>
          </a:p>
          <a:p>
            <a:pPr indent="-279400" lvl="0" marL="457200" rtl="0" algn="l">
              <a:lnSpc>
                <a:spcPct val="115000"/>
              </a:lnSpc>
              <a:spcBef>
                <a:spcPts val="0"/>
              </a:spcBef>
              <a:spcAft>
                <a:spcPts val="0"/>
              </a:spcAft>
              <a:buSzPts val="800"/>
              <a:buChar char="●"/>
            </a:pPr>
            <a:r>
              <a:rPr lang="en" sz="800"/>
              <a:t>Identifies important factors influencing demand</a:t>
            </a:r>
            <a:br>
              <a:rPr lang="en" sz="800"/>
            </a:br>
            <a:endParaRPr sz="800"/>
          </a:p>
          <a:p>
            <a:pPr indent="-279400" lvl="0" marL="457200" rtl="0" algn="l">
              <a:lnSpc>
                <a:spcPct val="115000"/>
              </a:lnSpc>
              <a:spcBef>
                <a:spcPts val="0"/>
              </a:spcBef>
              <a:spcAft>
                <a:spcPts val="0"/>
              </a:spcAft>
              <a:buSzPts val="800"/>
              <a:buChar char="●"/>
            </a:pPr>
            <a:r>
              <a:rPr lang="en" sz="800"/>
              <a:t>Uses ensemble-based machine learning algorithms for better accuracy</a:t>
            </a:r>
            <a:br>
              <a:rPr lang="en" sz="800"/>
            </a:br>
            <a:endParaRPr sz="800"/>
          </a:p>
          <a:p>
            <a:pPr indent="0" lvl="0" marL="0" rtl="0" algn="l">
              <a:lnSpc>
                <a:spcPct val="115000"/>
              </a:lnSpc>
              <a:spcBef>
                <a:spcPts val="1400"/>
              </a:spcBef>
              <a:spcAft>
                <a:spcPts val="0"/>
              </a:spcAft>
              <a:buNone/>
            </a:pPr>
            <a:r>
              <a:rPr b="1" lang="en" sz="1000"/>
              <a:t>Database (SQLite / CSV Storage)</a:t>
            </a:r>
            <a:endParaRPr b="1" sz="1000"/>
          </a:p>
          <a:p>
            <a:pPr indent="-279400" lvl="0" marL="457200" rtl="0" algn="l">
              <a:lnSpc>
                <a:spcPct val="115000"/>
              </a:lnSpc>
              <a:spcBef>
                <a:spcPts val="1200"/>
              </a:spcBef>
              <a:spcAft>
                <a:spcPts val="0"/>
              </a:spcAft>
              <a:buSzPts val="800"/>
              <a:buChar char="●"/>
            </a:pPr>
            <a:r>
              <a:rPr lang="en" sz="800"/>
              <a:t>Stores historical job postings and processed datasets</a:t>
            </a:r>
            <a:br>
              <a:rPr lang="en" sz="800"/>
            </a:br>
            <a:endParaRPr sz="800"/>
          </a:p>
          <a:p>
            <a:pPr indent="-279400" lvl="0" marL="457200" rtl="0" algn="l">
              <a:lnSpc>
                <a:spcPct val="115000"/>
              </a:lnSpc>
              <a:spcBef>
                <a:spcPts val="0"/>
              </a:spcBef>
              <a:spcAft>
                <a:spcPts val="0"/>
              </a:spcAft>
              <a:buSzPts val="800"/>
              <a:buChar char="●"/>
            </a:pPr>
            <a:r>
              <a:rPr lang="en" sz="800"/>
              <a:t>Maintains prediction results and user queries (optional)</a:t>
            </a:r>
            <a:br>
              <a:rPr lang="en" sz="800"/>
            </a:br>
            <a:endParaRPr sz="800"/>
          </a:p>
          <a:p>
            <a:pPr indent="0" lvl="0" marL="0" rtl="0" algn="l">
              <a:lnSpc>
                <a:spcPct val="115000"/>
              </a:lnSpc>
              <a:spcBef>
                <a:spcPts val="1400"/>
              </a:spcBef>
              <a:spcAft>
                <a:spcPts val="0"/>
              </a:spcAft>
              <a:buNone/>
            </a:pPr>
            <a:r>
              <a:rPr b="1" lang="en" sz="1000"/>
              <a:t>Result Module</a:t>
            </a:r>
            <a:endParaRPr b="1" sz="1000"/>
          </a:p>
          <a:p>
            <a:pPr indent="-279400" lvl="0" marL="457200" rtl="0" algn="l">
              <a:lnSpc>
                <a:spcPct val="115000"/>
              </a:lnSpc>
              <a:spcBef>
                <a:spcPts val="1200"/>
              </a:spcBef>
              <a:spcAft>
                <a:spcPts val="0"/>
              </a:spcAft>
              <a:buSzPts val="800"/>
              <a:buChar char="●"/>
            </a:pPr>
            <a:r>
              <a:rPr lang="en" sz="800"/>
              <a:t>Generates job demand prediction output</a:t>
            </a:r>
            <a:br>
              <a:rPr lang="en" sz="800"/>
            </a:br>
            <a:endParaRPr sz="800"/>
          </a:p>
          <a:p>
            <a:pPr indent="-279400" lvl="0" marL="457200" rtl="0" algn="l">
              <a:lnSpc>
                <a:spcPct val="115000"/>
              </a:lnSpc>
              <a:spcBef>
                <a:spcPts val="0"/>
              </a:spcBef>
              <a:spcAft>
                <a:spcPts val="0"/>
              </a:spcAft>
              <a:buSzPts val="800"/>
              <a:buChar char="●"/>
            </a:pPr>
            <a:r>
              <a:rPr lang="en" sz="800"/>
              <a:t>Displays demand category and influencing factors to the user</a:t>
            </a:r>
            <a:br>
              <a:rPr lang="en" sz="800"/>
            </a:br>
            <a:endParaRPr sz="800"/>
          </a:p>
          <a:p>
            <a:pPr indent="-279400" lvl="0" marL="457200" rtl="0" algn="l">
              <a:lnSpc>
                <a:spcPct val="115000"/>
              </a:lnSpc>
              <a:spcBef>
                <a:spcPts val="0"/>
              </a:spcBef>
              <a:spcAft>
                <a:spcPts val="0"/>
              </a:spcAft>
              <a:buSzPts val="800"/>
              <a:buChar char="●"/>
            </a:pPr>
            <a:r>
              <a:rPr lang="en" sz="800"/>
              <a:t>Presents results in an easy-to-understand format</a:t>
            </a:r>
            <a:endParaRPr sz="1700">
              <a:solidFill>
                <a:schemeClr val="dk2"/>
              </a:solidFill>
              <a:latin typeface="Raleway Light"/>
              <a:ea typeface="Raleway Light"/>
              <a:cs typeface="Raleway Light"/>
              <a:sym typeface="Raleway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136" name="Google Shape;136;p22"/>
          <p:cNvPicPr preferRelativeResize="0"/>
          <p:nvPr/>
        </p:nvPicPr>
        <p:blipFill>
          <a:blip r:embed="rId3">
            <a:alphaModFix/>
          </a:blip>
          <a:stretch>
            <a:fillRect/>
          </a:stretch>
        </p:blipFill>
        <p:spPr>
          <a:xfrm>
            <a:off x="516125" y="692825"/>
            <a:ext cx="8111726" cy="3848850"/>
          </a:xfrm>
          <a:prstGeom prst="rect">
            <a:avLst/>
          </a:prstGeom>
          <a:noFill/>
          <a:ln>
            <a:noFill/>
          </a:ln>
        </p:spPr>
      </p:pic>
      <p:sp>
        <p:nvSpPr>
          <p:cNvPr id="137" name="Google Shape;137;p22"/>
          <p:cNvSpPr txBox="1"/>
          <p:nvPr/>
        </p:nvSpPr>
        <p:spPr>
          <a:xfrm>
            <a:off x="917150" y="641600"/>
            <a:ext cx="6792900" cy="49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u="sng">
                <a:solidFill>
                  <a:schemeClr val="dk2"/>
                </a:solidFill>
                <a:latin typeface="Raleway"/>
                <a:ea typeface="Raleway"/>
                <a:cs typeface="Raleway"/>
                <a:sym typeface="Raleway"/>
              </a:rPr>
              <a:t>Job demand prediction</a:t>
            </a:r>
            <a:r>
              <a:rPr b="1" lang="en" sz="1900">
                <a:solidFill>
                  <a:schemeClr val="dk2"/>
                </a:solidFill>
                <a:latin typeface="Raleway"/>
                <a:ea typeface="Raleway"/>
                <a:cs typeface="Raleway"/>
                <a:sym typeface="Raleway"/>
              </a:rPr>
              <a:t>:</a:t>
            </a:r>
            <a:endParaRPr b="1" sz="1900">
              <a:solidFill>
                <a:schemeClr val="dk2"/>
              </a:solidFill>
              <a:latin typeface="Raleway"/>
              <a:ea typeface="Raleway"/>
              <a:cs typeface="Raleway"/>
              <a:sym typeface="Ralewa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43" name="Google Shape;143;p23"/>
          <p:cNvSpPr txBox="1"/>
          <p:nvPr/>
        </p:nvSpPr>
        <p:spPr>
          <a:xfrm>
            <a:off x="730800" y="557750"/>
            <a:ext cx="6447900" cy="353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700"/>
              <a:t>DATA COLLECTION</a:t>
            </a:r>
            <a:endParaRPr b="1" sz="1700"/>
          </a:p>
          <a:p>
            <a:pPr indent="-298450" lvl="0" marL="457200" rtl="0" algn="l">
              <a:lnSpc>
                <a:spcPct val="115000"/>
              </a:lnSpc>
              <a:spcBef>
                <a:spcPts val="1200"/>
              </a:spcBef>
              <a:spcAft>
                <a:spcPts val="0"/>
              </a:spcAft>
              <a:buSzPts val="1100"/>
              <a:buChar char="●"/>
            </a:pPr>
            <a:r>
              <a:rPr lang="en" sz="1100"/>
              <a:t>Collected historical job posting data from online job portals and datasets</a:t>
            </a:r>
            <a:br>
              <a:rPr lang="en" sz="1100"/>
            </a:br>
            <a:endParaRPr sz="1100"/>
          </a:p>
          <a:p>
            <a:pPr indent="-298450" lvl="0" marL="457200" rtl="0" algn="l">
              <a:lnSpc>
                <a:spcPct val="115000"/>
              </a:lnSpc>
              <a:spcBef>
                <a:spcPts val="0"/>
              </a:spcBef>
              <a:spcAft>
                <a:spcPts val="0"/>
              </a:spcAft>
              <a:buSzPts val="1100"/>
              <a:buChar char="●"/>
            </a:pPr>
            <a:r>
              <a:rPr lang="en" sz="1100"/>
              <a:t>Includes job role, required skills, experience level, and job location</a:t>
            </a:r>
            <a:br>
              <a:rPr lang="en" sz="1100"/>
            </a:br>
            <a:endParaRPr sz="1100"/>
          </a:p>
          <a:p>
            <a:pPr indent="-298450" lvl="0" marL="457200" rtl="0" algn="l">
              <a:lnSpc>
                <a:spcPct val="115000"/>
              </a:lnSpc>
              <a:spcBef>
                <a:spcPts val="0"/>
              </a:spcBef>
              <a:spcAft>
                <a:spcPts val="0"/>
              </a:spcAft>
              <a:buSzPts val="1100"/>
              <a:buChar char="●"/>
            </a:pPr>
            <a:r>
              <a:rPr lang="en" sz="1100"/>
              <a:t>Uses posting date and hiring timeline information</a:t>
            </a:r>
            <a:br>
              <a:rPr lang="en" sz="1100"/>
            </a:br>
            <a:endParaRPr sz="1100"/>
          </a:p>
          <a:p>
            <a:pPr indent="-298450" lvl="0" marL="457200" rtl="0" algn="l">
              <a:lnSpc>
                <a:spcPct val="115000"/>
              </a:lnSpc>
              <a:spcBef>
                <a:spcPts val="0"/>
              </a:spcBef>
              <a:spcAft>
                <a:spcPts val="0"/>
              </a:spcAft>
              <a:buSzPts val="1100"/>
              <a:buChar char="●"/>
            </a:pPr>
            <a:r>
              <a:rPr lang="en" sz="1100"/>
              <a:t>Collects time-based data (year-wise and month-wise trends)</a:t>
            </a:r>
            <a:br>
              <a:rPr lang="en" sz="1100"/>
            </a:br>
            <a:endParaRPr sz="1100"/>
          </a:p>
          <a:p>
            <a:pPr indent="-298450" lvl="0" marL="457200" rtl="0" algn="l">
              <a:lnSpc>
                <a:spcPct val="115000"/>
              </a:lnSpc>
              <a:spcBef>
                <a:spcPts val="0"/>
              </a:spcBef>
              <a:spcAft>
                <a:spcPts val="0"/>
              </a:spcAft>
              <a:buSzPts val="1100"/>
              <a:buChar char="●"/>
            </a:pPr>
            <a:r>
              <a:rPr lang="en" sz="1100"/>
              <a:t>Includes industry domain and skill demand information</a:t>
            </a:r>
            <a:br>
              <a:rPr lang="en" sz="1100"/>
            </a:br>
            <a:endParaRPr sz="1100"/>
          </a:p>
          <a:p>
            <a:pPr indent="-298450" lvl="0" marL="457200" rtl="0" algn="l">
              <a:lnSpc>
                <a:spcPct val="115000"/>
              </a:lnSpc>
              <a:spcBef>
                <a:spcPts val="0"/>
              </a:spcBef>
              <a:spcAft>
                <a:spcPts val="0"/>
              </a:spcAft>
              <a:buSzPts val="1100"/>
              <a:buChar char="●"/>
            </a:pPr>
            <a:r>
              <a:rPr lang="en" sz="1100"/>
              <a:t>Derives job demand level from frequency of job postings</a:t>
            </a:r>
            <a:br>
              <a:rPr lang="en" sz="1100"/>
            </a:br>
            <a:endParaRPr sz="1100"/>
          </a:p>
          <a:p>
            <a:pPr indent="-298450" lvl="0" marL="457200" rtl="0" algn="l">
              <a:lnSpc>
                <a:spcPct val="115000"/>
              </a:lnSpc>
              <a:spcBef>
                <a:spcPts val="0"/>
              </a:spcBef>
              <a:spcAft>
                <a:spcPts val="0"/>
              </a:spcAft>
              <a:buSzPts val="1100"/>
              <a:buChar char="●"/>
            </a:pPr>
            <a:r>
              <a:rPr lang="en" sz="1100"/>
              <a:t>Data represents realistic job market and industry hiring trends</a:t>
            </a:r>
            <a:endParaRPr sz="1100"/>
          </a:p>
          <a:p>
            <a:pPr indent="0" lvl="0" marL="0" rtl="0" algn="l">
              <a:spcBef>
                <a:spcPts val="1200"/>
              </a:spcBef>
              <a:spcAft>
                <a:spcPts val="0"/>
              </a:spcAft>
              <a:buNone/>
            </a:pPr>
            <a:r>
              <a:t/>
            </a:r>
            <a:endParaRPr sz="1800">
              <a:solidFill>
                <a:schemeClr val="dk2"/>
              </a:solidFill>
              <a:latin typeface="Raleway Light"/>
              <a:ea typeface="Raleway Light"/>
              <a:cs typeface="Raleway Light"/>
              <a:sym typeface="Raleway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4"/>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49" name="Google Shape;149;p24"/>
          <p:cNvSpPr txBox="1"/>
          <p:nvPr/>
        </p:nvSpPr>
        <p:spPr>
          <a:xfrm>
            <a:off x="544425" y="613675"/>
            <a:ext cx="8206800" cy="4360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600"/>
              <a:t>METHODOLOGY</a:t>
            </a:r>
            <a:endParaRPr b="1" sz="1600"/>
          </a:p>
          <a:p>
            <a:pPr indent="0" lvl="0" marL="0" rtl="0" algn="l">
              <a:lnSpc>
                <a:spcPct val="115000"/>
              </a:lnSpc>
              <a:spcBef>
                <a:spcPts val="1200"/>
              </a:spcBef>
              <a:spcAft>
                <a:spcPts val="0"/>
              </a:spcAft>
              <a:buNone/>
            </a:pPr>
            <a:r>
              <a:rPr lang="en" sz="1000"/>
              <a:t>The methodology explains the process followed to design and implement the </a:t>
            </a:r>
            <a:r>
              <a:rPr b="1" lang="en" sz="1000"/>
              <a:t>Job Demand Prediction System</a:t>
            </a:r>
            <a:r>
              <a:rPr lang="en" sz="1000"/>
              <a:t> using machine learning techniques. The system analyzes historical job market data to identify patterns and predict future demand for different job roles.</a:t>
            </a:r>
            <a:endParaRPr sz="1000"/>
          </a:p>
          <a:p>
            <a:pPr indent="-292100" lvl="0" marL="457200" rtl="0" algn="l">
              <a:lnSpc>
                <a:spcPct val="115000"/>
              </a:lnSpc>
              <a:spcBef>
                <a:spcPts val="1200"/>
              </a:spcBef>
              <a:spcAft>
                <a:spcPts val="0"/>
              </a:spcAft>
              <a:buSzPts val="1000"/>
              <a:buChar char="●"/>
            </a:pPr>
            <a:r>
              <a:rPr b="1" lang="en" sz="1000"/>
              <a:t>Data Collection:</a:t>
            </a:r>
            <a:r>
              <a:rPr lang="en" sz="1000"/>
              <a:t> Historical job posting data is collected, including job role, required skills, experience level, location, and posting date.</a:t>
            </a:r>
            <a:br>
              <a:rPr lang="en" sz="1000"/>
            </a:br>
            <a:endParaRPr sz="1000"/>
          </a:p>
          <a:p>
            <a:pPr indent="-292100" lvl="0" marL="457200" rtl="0" algn="l">
              <a:lnSpc>
                <a:spcPct val="115000"/>
              </a:lnSpc>
              <a:spcBef>
                <a:spcPts val="0"/>
              </a:spcBef>
              <a:spcAft>
                <a:spcPts val="0"/>
              </a:spcAft>
              <a:buSzPts val="1000"/>
              <a:buChar char="●"/>
            </a:pPr>
            <a:r>
              <a:rPr b="1" lang="en" sz="1000"/>
              <a:t>Data Preprocessing:</a:t>
            </a:r>
            <a:r>
              <a:rPr lang="en" sz="1000"/>
              <a:t> The collected data is cleaned by handling missing values, removing duplicates, and filtering irrelevant records.</a:t>
            </a:r>
            <a:br>
              <a:rPr lang="en" sz="1000"/>
            </a:br>
            <a:endParaRPr sz="1000"/>
          </a:p>
          <a:p>
            <a:pPr indent="-292100" lvl="0" marL="457200" rtl="0" algn="l">
              <a:lnSpc>
                <a:spcPct val="115000"/>
              </a:lnSpc>
              <a:spcBef>
                <a:spcPts val="0"/>
              </a:spcBef>
              <a:spcAft>
                <a:spcPts val="0"/>
              </a:spcAft>
              <a:buSzPts val="1000"/>
              <a:buChar char="●"/>
            </a:pPr>
            <a:r>
              <a:rPr b="1" lang="en" sz="1000"/>
              <a:t>Feature Engineering:</a:t>
            </a:r>
            <a:r>
              <a:rPr lang="en" sz="1000"/>
              <a:t> Important features such as skill frequency, experience categories, job domain, and location are extracted and encoded.</a:t>
            </a:r>
            <a:br>
              <a:rPr lang="en" sz="1000"/>
            </a:br>
            <a:endParaRPr sz="1000"/>
          </a:p>
          <a:p>
            <a:pPr indent="-292100" lvl="0" marL="457200" rtl="0" algn="l">
              <a:lnSpc>
                <a:spcPct val="115000"/>
              </a:lnSpc>
              <a:spcBef>
                <a:spcPts val="0"/>
              </a:spcBef>
              <a:spcAft>
                <a:spcPts val="0"/>
              </a:spcAft>
              <a:buSzPts val="1000"/>
              <a:buChar char="●"/>
            </a:pPr>
            <a:r>
              <a:rPr b="1" lang="en" sz="1000"/>
              <a:t>Model Training:</a:t>
            </a:r>
            <a:r>
              <a:rPr lang="en" sz="1000"/>
              <a:t> Machine learning models such as Random Forest and ensemble techniques are trained on the processed dataset.</a:t>
            </a:r>
            <a:br>
              <a:rPr lang="en" sz="1000"/>
            </a:br>
            <a:endParaRPr sz="1000"/>
          </a:p>
          <a:p>
            <a:pPr indent="-292100" lvl="0" marL="457200" rtl="0" algn="l">
              <a:lnSpc>
                <a:spcPct val="115000"/>
              </a:lnSpc>
              <a:spcBef>
                <a:spcPts val="0"/>
              </a:spcBef>
              <a:spcAft>
                <a:spcPts val="0"/>
              </a:spcAft>
              <a:buSzPts val="1000"/>
              <a:buChar char="●"/>
            </a:pPr>
            <a:r>
              <a:rPr b="1" lang="en" sz="1000"/>
              <a:t>Model Evaluation:</a:t>
            </a:r>
            <a:r>
              <a:rPr lang="en" sz="1000"/>
              <a:t> The trained model is evaluated to ensure accurate and reliable job demand predictions.</a:t>
            </a:r>
            <a:br>
              <a:rPr lang="en" sz="1000"/>
            </a:br>
            <a:endParaRPr sz="1000"/>
          </a:p>
          <a:p>
            <a:pPr indent="-292100" lvl="0" marL="457200" rtl="0" algn="l">
              <a:lnSpc>
                <a:spcPct val="115000"/>
              </a:lnSpc>
              <a:spcBef>
                <a:spcPts val="0"/>
              </a:spcBef>
              <a:spcAft>
                <a:spcPts val="0"/>
              </a:spcAft>
              <a:buSzPts val="1000"/>
              <a:buChar char="●"/>
            </a:pPr>
            <a:r>
              <a:rPr b="1" lang="en" sz="1000"/>
              <a:t>Prediction &amp; Deployment:</a:t>
            </a:r>
            <a:r>
              <a:rPr lang="en" sz="1000"/>
              <a:t> The final model is integrated into a Flask-based web application to generate and display job demand predictions.</a:t>
            </a:r>
            <a:endParaRPr sz="1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5"/>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55" name="Google Shape;155;p25"/>
          <p:cNvSpPr txBox="1"/>
          <p:nvPr/>
        </p:nvSpPr>
        <p:spPr>
          <a:xfrm>
            <a:off x="507150" y="455250"/>
            <a:ext cx="3950700" cy="422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300"/>
              <a:t>Step 1: Data Collection</a:t>
            </a:r>
            <a:endParaRPr b="1" sz="1300"/>
          </a:p>
          <a:p>
            <a:pPr indent="-273050" lvl="0" marL="457200" rtl="0" algn="l">
              <a:lnSpc>
                <a:spcPct val="115000"/>
              </a:lnSpc>
              <a:spcBef>
                <a:spcPts val="1200"/>
              </a:spcBef>
              <a:spcAft>
                <a:spcPts val="0"/>
              </a:spcAft>
              <a:buSzPts val="700"/>
              <a:buChar char="●"/>
            </a:pPr>
            <a:r>
              <a:rPr lang="en" sz="700"/>
              <a:t>Job market data is collected from online job portals and reliable datasets</a:t>
            </a:r>
            <a:br>
              <a:rPr lang="en" sz="700"/>
            </a:br>
            <a:endParaRPr sz="700"/>
          </a:p>
          <a:p>
            <a:pPr indent="-273050" lvl="0" marL="457200" rtl="0" algn="l">
              <a:lnSpc>
                <a:spcPct val="115000"/>
              </a:lnSpc>
              <a:spcBef>
                <a:spcPts val="0"/>
              </a:spcBef>
              <a:spcAft>
                <a:spcPts val="0"/>
              </a:spcAft>
              <a:buSzPts val="700"/>
              <a:buChar char="●"/>
            </a:pPr>
            <a:r>
              <a:rPr lang="en" sz="700"/>
              <a:t>Includes job role, required skills, experience level, and job location</a:t>
            </a:r>
            <a:br>
              <a:rPr lang="en" sz="700"/>
            </a:br>
            <a:endParaRPr sz="700"/>
          </a:p>
          <a:p>
            <a:pPr indent="-273050" lvl="0" marL="457200" rtl="0" algn="l">
              <a:lnSpc>
                <a:spcPct val="115000"/>
              </a:lnSpc>
              <a:spcBef>
                <a:spcPts val="0"/>
              </a:spcBef>
              <a:spcAft>
                <a:spcPts val="0"/>
              </a:spcAft>
              <a:buSzPts val="700"/>
              <a:buChar char="●"/>
            </a:pPr>
            <a:r>
              <a:rPr lang="en" sz="700"/>
              <a:t>Posting date and hiring timeline information are collected</a:t>
            </a:r>
            <a:br>
              <a:rPr lang="en" sz="700"/>
            </a:br>
            <a:endParaRPr sz="700"/>
          </a:p>
          <a:p>
            <a:pPr indent="-273050" lvl="0" marL="457200" rtl="0" algn="l">
              <a:lnSpc>
                <a:spcPct val="115000"/>
              </a:lnSpc>
              <a:spcBef>
                <a:spcPts val="0"/>
              </a:spcBef>
              <a:spcAft>
                <a:spcPts val="0"/>
              </a:spcAft>
              <a:buSzPts val="700"/>
              <a:buChar char="●"/>
            </a:pPr>
            <a:r>
              <a:rPr lang="en" sz="700"/>
              <a:t>Industry domain and skill requirements are included</a:t>
            </a:r>
            <a:br>
              <a:rPr lang="en" sz="700"/>
            </a:br>
            <a:endParaRPr sz="700"/>
          </a:p>
          <a:p>
            <a:pPr indent="-273050" lvl="0" marL="457200" rtl="0" algn="l">
              <a:lnSpc>
                <a:spcPct val="115000"/>
              </a:lnSpc>
              <a:spcBef>
                <a:spcPts val="0"/>
              </a:spcBef>
              <a:spcAft>
                <a:spcPts val="0"/>
              </a:spcAft>
              <a:buSzPts val="700"/>
              <a:buChar char="●"/>
            </a:pPr>
            <a:r>
              <a:rPr lang="en" sz="700"/>
              <a:t>Time-based attributes such as year and month are considered</a:t>
            </a:r>
            <a:br>
              <a:rPr lang="en" sz="700"/>
            </a:br>
            <a:endParaRPr sz="700"/>
          </a:p>
          <a:p>
            <a:pPr indent="-273050" lvl="0" marL="457200" rtl="0" algn="l">
              <a:lnSpc>
                <a:spcPct val="115000"/>
              </a:lnSpc>
              <a:spcBef>
                <a:spcPts val="0"/>
              </a:spcBef>
              <a:spcAft>
                <a:spcPts val="0"/>
              </a:spcAft>
              <a:buSzPts val="700"/>
              <a:buChar char="●"/>
            </a:pPr>
            <a:r>
              <a:rPr lang="en" sz="700"/>
              <a:t>This data represents real-world job market and hiring trends</a:t>
            </a:r>
            <a:br>
              <a:rPr lang="en" sz="700"/>
            </a:br>
            <a:endParaRPr sz="700"/>
          </a:p>
          <a:p>
            <a:pPr indent="0" lvl="0" marL="0" rtl="0" algn="l">
              <a:lnSpc>
                <a:spcPct val="115000"/>
              </a:lnSpc>
              <a:spcBef>
                <a:spcPts val="1200"/>
              </a:spcBef>
              <a:spcAft>
                <a:spcPts val="0"/>
              </a:spcAft>
              <a:buNone/>
            </a:pPr>
            <a:r>
              <a:t/>
            </a:r>
            <a:endParaRPr sz="700"/>
          </a:p>
          <a:p>
            <a:pPr indent="0" lvl="0" marL="0" rtl="0" algn="l">
              <a:lnSpc>
                <a:spcPct val="115000"/>
              </a:lnSpc>
              <a:spcBef>
                <a:spcPts val="1800"/>
              </a:spcBef>
              <a:spcAft>
                <a:spcPts val="0"/>
              </a:spcAft>
              <a:buNone/>
            </a:pPr>
            <a:r>
              <a:rPr b="1" lang="en" sz="1300"/>
              <a:t>Step 2: Data Preprocessing</a:t>
            </a:r>
            <a:endParaRPr b="1" sz="1300"/>
          </a:p>
          <a:p>
            <a:pPr indent="-273050" lvl="0" marL="457200" rtl="0" algn="l">
              <a:lnSpc>
                <a:spcPct val="115000"/>
              </a:lnSpc>
              <a:spcBef>
                <a:spcPts val="1200"/>
              </a:spcBef>
              <a:spcAft>
                <a:spcPts val="0"/>
              </a:spcAft>
              <a:buSzPts val="700"/>
              <a:buChar char="●"/>
            </a:pPr>
            <a:r>
              <a:rPr lang="en" sz="700"/>
              <a:t>Missing and inconsistent data is identified and cleaned</a:t>
            </a:r>
            <a:br>
              <a:rPr lang="en" sz="700"/>
            </a:br>
            <a:endParaRPr sz="700"/>
          </a:p>
          <a:p>
            <a:pPr indent="-273050" lvl="0" marL="457200" rtl="0" algn="l">
              <a:lnSpc>
                <a:spcPct val="115000"/>
              </a:lnSpc>
              <a:spcBef>
                <a:spcPts val="0"/>
              </a:spcBef>
              <a:spcAft>
                <a:spcPts val="0"/>
              </a:spcAft>
              <a:buSzPts val="700"/>
              <a:buChar char="●"/>
            </a:pPr>
            <a:r>
              <a:rPr lang="en" sz="700"/>
              <a:t>Duplicate job postings are removed</a:t>
            </a:r>
            <a:br>
              <a:rPr lang="en" sz="700"/>
            </a:br>
            <a:endParaRPr sz="700"/>
          </a:p>
          <a:p>
            <a:pPr indent="-273050" lvl="0" marL="457200" rtl="0" algn="l">
              <a:lnSpc>
                <a:spcPct val="115000"/>
              </a:lnSpc>
              <a:spcBef>
                <a:spcPts val="0"/>
              </a:spcBef>
              <a:spcAft>
                <a:spcPts val="0"/>
              </a:spcAft>
              <a:buSzPts val="700"/>
              <a:buChar char="●"/>
            </a:pPr>
            <a:r>
              <a:rPr lang="en" sz="700"/>
              <a:t>Categorical values (job role, skills, location) are converted into numerical format</a:t>
            </a:r>
            <a:br>
              <a:rPr lang="en" sz="700"/>
            </a:br>
            <a:endParaRPr sz="700"/>
          </a:p>
          <a:p>
            <a:pPr indent="-273050" lvl="0" marL="457200" rtl="0" algn="l">
              <a:lnSpc>
                <a:spcPct val="115000"/>
              </a:lnSpc>
              <a:spcBef>
                <a:spcPts val="0"/>
              </a:spcBef>
              <a:spcAft>
                <a:spcPts val="0"/>
              </a:spcAft>
              <a:buSzPts val="700"/>
              <a:buChar char="●"/>
            </a:pPr>
            <a:r>
              <a:rPr lang="en" sz="700"/>
              <a:t>Date and time fields are transformed into useful features</a:t>
            </a:r>
            <a:br>
              <a:rPr lang="en" sz="700"/>
            </a:br>
            <a:endParaRPr sz="700"/>
          </a:p>
          <a:p>
            <a:pPr indent="-273050" lvl="0" marL="457200" rtl="0" algn="l">
              <a:lnSpc>
                <a:spcPct val="115000"/>
              </a:lnSpc>
              <a:spcBef>
                <a:spcPts val="0"/>
              </a:spcBef>
              <a:spcAft>
                <a:spcPts val="0"/>
              </a:spcAft>
              <a:buSzPts val="700"/>
              <a:buChar char="●"/>
            </a:pPr>
            <a:r>
              <a:rPr lang="en" sz="700"/>
              <a:t>Data is standardized to make it suitable for machine learning</a:t>
            </a:r>
            <a:br>
              <a:rPr lang="en" sz="700"/>
            </a:br>
            <a:endParaRPr sz="700"/>
          </a:p>
          <a:p>
            <a:pPr indent="-273050" lvl="0" marL="457200" rtl="0" algn="l">
              <a:lnSpc>
                <a:spcPct val="115000"/>
              </a:lnSpc>
              <a:spcBef>
                <a:spcPts val="0"/>
              </a:spcBef>
              <a:spcAft>
                <a:spcPts val="0"/>
              </a:spcAft>
              <a:buSzPts val="700"/>
              <a:buChar char="●"/>
            </a:pPr>
            <a:r>
              <a:rPr lang="en" sz="700"/>
              <a:t>This step ensures the dataset is clean and reliable</a:t>
            </a:r>
            <a:endParaRPr>
              <a:solidFill>
                <a:schemeClr val="dk2"/>
              </a:solidFill>
              <a:latin typeface="Raleway Light"/>
              <a:ea typeface="Raleway Light"/>
              <a:cs typeface="Raleway Light"/>
              <a:sym typeface="Raleway Light"/>
            </a:endParaRPr>
          </a:p>
        </p:txBody>
      </p:sp>
      <p:sp>
        <p:nvSpPr>
          <p:cNvPr id="156" name="Google Shape;156;p25"/>
          <p:cNvSpPr txBox="1"/>
          <p:nvPr/>
        </p:nvSpPr>
        <p:spPr>
          <a:xfrm>
            <a:off x="4411375" y="1200675"/>
            <a:ext cx="4230300" cy="329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300"/>
              <a:t>Step 3: Feature Engineering</a:t>
            </a:r>
            <a:endParaRPr b="1" sz="1300"/>
          </a:p>
          <a:p>
            <a:pPr indent="-273050" lvl="0" marL="457200" rtl="0" algn="l">
              <a:lnSpc>
                <a:spcPct val="115000"/>
              </a:lnSpc>
              <a:spcBef>
                <a:spcPts val="1200"/>
              </a:spcBef>
              <a:spcAft>
                <a:spcPts val="0"/>
              </a:spcAft>
              <a:buSzPts val="700"/>
              <a:buChar char="●"/>
            </a:pPr>
            <a:r>
              <a:rPr lang="en" sz="700"/>
              <a:t>Important features are derived to improve prediction accuracy</a:t>
            </a:r>
            <a:br>
              <a:rPr lang="en" sz="700"/>
            </a:br>
            <a:endParaRPr sz="700"/>
          </a:p>
          <a:p>
            <a:pPr indent="-273050" lvl="0" marL="457200" rtl="0" algn="l">
              <a:lnSpc>
                <a:spcPct val="115000"/>
              </a:lnSpc>
              <a:spcBef>
                <a:spcPts val="0"/>
              </a:spcBef>
              <a:spcAft>
                <a:spcPts val="0"/>
              </a:spcAft>
              <a:buSzPts val="700"/>
              <a:buChar char="●"/>
            </a:pPr>
            <a:r>
              <a:rPr lang="en" sz="700"/>
              <a:t>Skill frequency and demand indicators are generated</a:t>
            </a:r>
            <a:br>
              <a:rPr lang="en" sz="700"/>
            </a:br>
            <a:endParaRPr sz="700"/>
          </a:p>
          <a:p>
            <a:pPr indent="-273050" lvl="0" marL="457200" rtl="0" algn="l">
              <a:lnSpc>
                <a:spcPct val="115000"/>
              </a:lnSpc>
              <a:spcBef>
                <a:spcPts val="0"/>
              </a:spcBef>
              <a:spcAft>
                <a:spcPts val="0"/>
              </a:spcAft>
              <a:buSzPts val="700"/>
              <a:buChar char="●"/>
            </a:pPr>
            <a:r>
              <a:rPr lang="en" sz="700"/>
              <a:t>Experience level categories are created</a:t>
            </a:r>
            <a:br>
              <a:rPr lang="en" sz="700"/>
            </a:br>
            <a:endParaRPr sz="700"/>
          </a:p>
          <a:p>
            <a:pPr indent="-273050" lvl="0" marL="457200" rtl="0" algn="l">
              <a:lnSpc>
                <a:spcPct val="115000"/>
              </a:lnSpc>
              <a:spcBef>
                <a:spcPts val="0"/>
              </a:spcBef>
              <a:spcAft>
                <a:spcPts val="0"/>
              </a:spcAft>
              <a:buSzPts val="700"/>
              <a:buChar char="●"/>
            </a:pPr>
            <a:r>
              <a:rPr lang="en" sz="700"/>
              <a:t>Location-based demand features are included</a:t>
            </a:r>
            <a:br>
              <a:rPr lang="en" sz="700"/>
            </a:br>
            <a:endParaRPr sz="700"/>
          </a:p>
          <a:p>
            <a:pPr indent="-273050" lvl="0" marL="457200" rtl="0" algn="l">
              <a:lnSpc>
                <a:spcPct val="115000"/>
              </a:lnSpc>
              <a:spcBef>
                <a:spcPts val="0"/>
              </a:spcBef>
              <a:spcAft>
                <a:spcPts val="0"/>
              </a:spcAft>
              <a:buSzPts val="700"/>
              <a:buChar char="●"/>
            </a:pPr>
            <a:r>
              <a:rPr lang="en" sz="700"/>
              <a:t>Time-based demand trends are extracted</a:t>
            </a:r>
            <a:br>
              <a:rPr lang="en" sz="700"/>
            </a:br>
            <a:endParaRPr sz="700"/>
          </a:p>
          <a:p>
            <a:pPr indent="-273050" lvl="0" marL="457200" rtl="0" algn="l">
              <a:lnSpc>
                <a:spcPct val="115000"/>
              </a:lnSpc>
              <a:spcBef>
                <a:spcPts val="0"/>
              </a:spcBef>
              <a:spcAft>
                <a:spcPts val="0"/>
              </a:spcAft>
              <a:buSzPts val="700"/>
              <a:buChar char="●"/>
            </a:pPr>
            <a:r>
              <a:rPr lang="en" sz="700"/>
              <a:t>Feature engineering helps the model learn job demand patterns effectively</a:t>
            </a:r>
            <a:endParaRPr sz="1800">
              <a:solidFill>
                <a:schemeClr val="dk2"/>
              </a:solidFill>
              <a:latin typeface="Raleway Light"/>
              <a:ea typeface="Raleway Light"/>
              <a:cs typeface="Raleway Light"/>
              <a:sym typeface="Raleway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6"/>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62" name="Google Shape;162;p26"/>
          <p:cNvSpPr txBox="1"/>
          <p:nvPr/>
        </p:nvSpPr>
        <p:spPr>
          <a:xfrm>
            <a:off x="805325" y="613650"/>
            <a:ext cx="7575600" cy="391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300"/>
              <a:t>Step 4: Model Selection and Training</a:t>
            </a:r>
            <a:endParaRPr b="1" sz="1300"/>
          </a:p>
          <a:p>
            <a:pPr indent="-273050" lvl="0" marL="457200" rtl="0" algn="l">
              <a:lnSpc>
                <a:spcPct val="115000"/>
              </a:lnSpc>
              <a:spcBef>
                <a:spcPts val="1200"/>
              </a:spcBef>
              <a:spcAft>
                <a:spcPts val="0"/>
              </a:spcAft>
              <a:buSzPts val="700"/>
              <a:buChar char="●"/>
            </a:pPr>
            <a:r>
              <a:rPr lang="en" sz="700"/>
              <a:t>A machine learning classification/regression model is selected for job demand prediction</a:t>
            </a:r>
            <a:br>
              <a:rPr lang="en" sz="700"/>
            </a:br>
            <a:endParaRPr sz="700"/>
          </a:p>
          <a:p>
            <a:pPr indent="-273050" lvl="0" marL="457200" rtl="0" algn="l">
              <a:lnSpc>
                <a:spcPct val="115000"/>
              </a:lnSpc>
              <a:spcBef>
                <a:spcPts val="0"/>
              </a:spcBef>
              <a:spcAft>
                <a:spcPts val="0"/>
              </a:spcAft>
              <a:buSzPts val="700"/>
              <a:buChar char="●"/>
            </a:pPr>
            <a:r>
              <a:rPr b="1" lang="en" sz="700"/>
              <a:t>Random Forest and ensemble-based algorithms</a:t>
            </a:r>
            <a:r>
              <a:rPr lang="en" sz="700"/>
              <a:t> are used due to their robustness and good performance on structured data</a:t>
            </a:r>
            <a:br>
              <a:rPr lang="en" sz="700"/>
            </a:br>
            <a:endParaRPr sz="700"/>
          </a:p>
          <a:p>
            <a:pPr indent="-273050" lvl="0" marL="457200" rtl="0" algn="l">
              <a:lnSpc>
                <a:spcPct val="115000"/>
              </a:lnSpc>
              <a:spcBef>
                <a:spcPts val="0"/>
              </a:spcBef>
              <a:spcAft>
                <a:spcPts val="0"/>
              </a:spcAft>
              <a:buSzPts val="700"/>
              <a:buChar char="●"/>
            </a:pPr>
            <a:r>
              <a:rPr lang="en" sz="700"/>
              <a:t>The dataset is split into </a:t>
            </a:r>
            <a:r>
              <a:rPr b="1" lang="en" sz="700"/>
              <a:t>training and testing sets</a:t>
            </a:r>
            <a:br>
              <a:rPr b="1" lang="en" sz="700"/>
            </a:br>
            <a:endParaRPr b="1" sz="700"/>
          </a:p>
          <a:p>
            <a:pPr indent="-273050" lvl="0" marL="457200" rtl="0" algn="l">
              <a:lnSpc>
                <a:spcPct val="115000"/>
              </a:lnSpc>
              <a:spcBef>
                <a:spcPts val="0"/>
              </a:spcBef>
              <a:spcAft>
                <a:spcPts val="0"/>
              </a:spcAft>
              <a:buSzPts val="700"/>
              <a:buChar char="●"/>
            </a:pPr>
            <a:r>
              <a:rPr lang="en" sz="700"/>
              <a:t>The model is trained using historical job market data</a:t>
            </a:r>
            <a:br>
              <a:rPr lang="en" sz="700"/>
            </a:br>
            <a:endParaRPr sz="700"/>
          </a:p>
          <a:p>
            <a:pPr indent="-273050" lvl="0" marL="457200" rtl="0" algn="l">
              <a:lnSpc>
                <a:spcPct val="115000"/>
              </a:lnSpc>
              <a:spcBef>
                <a:spcPts val="0"/>
              </a:spcBef>
              <a:spcAft>
                <a:spcPts val="0"/>
              </a:spcAft>
              <a:buSzPts val="700"/>
              <a:buChar char="●"/>
            </a:pPr>
            <a:r>
              <a:rPr lang="en" sz="700"/>
              <a:t>Hyperparameters are tuned to improve prediction performance</a:t>
            </a:r>
            <a:br>
              <a:rPr lang="en" sz="700"/>
            </a:br>
            <a:endParaRPr sz="700"/>
          </a:p>
          <a:p>
            <a:pPr indent="-273050" lvl="0" marL="457200" rtl="0" algn="l">
              <a:lnSpc>
                <a:spcPct val="115000"/>
              </a:lnSpc>
              <a:spcBef>
                <a:spcPts val="0"/>
              </a:spcBef>
              <a:spcAft>
                <a:spcPts val="0"/>
              </a:spcAft>
              <a:buSzPts val="700"/>
              <a:buChar char="●"/>
            </a:pPr>
            <a:r>
              <a:rPr lang="en" sz="700"/>
              <a:t>The trained model learns the relationship between input features and job demand levels</a:t>
            </a:r>
            <a:br>
              <a:rPr lang="en" sz="700"/>
            </a:br>
            <a:endParaRPr sz="700"/>
          </a:p>
          <a:p>
            <a:pPr indent="0" lvl="0" marL="0" rtl="0" algn="l">
              <a:lnSpc>
                <a:spcPct val="115000"/>
              </a:lnSpc>
              <a:spcBef>
                <a:spcPts val="1800"/>
              </a:spcBef>
              <a:spcAft>
                <a:spcPts val="0"/>
              </a:spcAft>
              <a:buNone/>
            </a:pPr>
            <a:r>
              <a:rPr b="1" lang="en" sz="1300"/>
              <a:t>Step 5: Model Evaluation</a:t>
            </a:r>
            <a:endParaRPr b="1" sz="1300"/>
          </a:p>
          <a:p>
            <a:pPr indent="-273050" lvl="0" marL="457200" rtl="0" algn="l">
              <a:lnSpc>
                <a:spcPct val="115000"/>
              </a:lnSpc>
              <a:spcBef>
                <a:spcPts val="1200"/>
              </a:spcBef>
              <a:spcAft>
                <a:spcPts val="0"/>
              </a:spcAft>
              <a:buSzPts val="700"/>
              <a:buChar char="●"/>
            </a:pPr>
            <a:r>
              <a:rPr lang="en" sz="700"/>
              <a:t>Model performance is evaluated using standard evaluation metrics</a:t>
            </a:r>
            <a:br>
              <a:rPr lang="en" sz="700"/>
            </a:br>
            <a:endParaRPr sz="700"/>
          </a:p>
          <a:p>
            <a:pPr indent="-273050" lvl="0" marL="457200" rtl="0" algn="l">
              <a:lnSpc>
                <a:spcPct val="115000"/>
              </a:lnSpc>
              <a:spcBef>
                <a:spcPts val="0"/>
              </a:spcBef>
              <a:spcAft>
                <a:spcPts val="0"/>
              </a:spcAft>
              <a:buSzPts val="700"/>
              <a:buChar char="●"/>
            </a:pPr>
            <a:r>
              <a:rPr lang="en" sz="700"/>
              <a:t>Metrics such as </a:t>
            </a:r>
            <a:r>
              <a:rPr b="1" lang="en" sz="700"/>
              <a:t>accuracy, precision, recall, and error measures</a:t>
            </a:r>
            <a:r>
              <a:rPr lang="en" sz="700"/>
              <a:t> are calculated</a:t>
            </a:r>
            <a:br>
              <a:rPr lang="en" sz="700"/>
            </a:br>
            <a:endParaRPr sz="700"/>
          </a:p>
          <a:p>
            <a:pPr indent="-273050" lvl="0" marL="457200" rtl="0" algn="l">
              <a:lnSpc>
                <a:spcPct val="115000"/>
              </a:lnSpc>
              <a:spcBef>
                <a:spcPts val="0"/>
              </a:spcBef>
              <a:spcAft>
                <a:spcPts val="0"/>
              </a:spcAft>
              <a:buSzPts val="700"/>
              <a:buChar char="●"/>
            </a:pPr>
            <a:r>
              <a:rPr lang="en" sz="700"/>
              <a:t>Job demand predictions are classified into </a:t>
            </a:r>
            <a:r>
              <a:rPr b="1" lang="en" sz="700"/>
              <a:t>high demand, medium demand, and low demand</a:t>
            </a:r>
            <a:br>
              <a:rPr b="1" lang="en" sz="700"/>
            </a:br>
            <a:endParaRPr b="1" sz="700"/>
          </a:p>
          <a:p>
            <a:pPr indent="-273050" lvl="0" marL="457200" rtl="0" algn="l">
              <a:lnSpc>
                <a:spcPct val="115000"/>
              </a:lnSpc>
              <a:spcBef>
                <a:spcPts val="0"/>
              </a:spcBef>
              <a:spcAft>
                <a:spcPts val="0"/>
              </a:spcAft>
              <a:buSzPts val="700"/>
              <a:buChar char="●"/>
            </a:pPr>
            <a:r>
              <a:rPr lang="en" sz="700"/>
              <a:t>Model performance is validated using unseen test data</a:t>
            </a:r>
            <a:br>
              <a:rPr lang="en" sz="700"/>
            </a:br>
            <a:endParaRPr sz="700"/>
          </a:p>
          <a:p>
            <a:pPr indent="-273050" lvl="0" marL="457200" rtl="0" algn="l">
              <a:lnSpc>
                <a:spcPct val="115000"/>
              </a:lnSpc>
              <a:spcBef>
                <a:spcPts val="0"/>
              </a:spcBef>
              <a:spcAft>
                <a:spcPts val="0"/>
              </a:spcAft>
              <a:buSzPts val="700"/>
              <a:buChar char="●"/>
            </a:pPr>
            <a:r>
              <a:rPr lang="en" sz="700"/>
              <a:t>This step ensures the model provides reliable and consistent job demand predictions</a:t>
            </a:r>
            <a:endParaRPr>
              <a:solidFill>
                <a:schemeClr val="dk2"/>
              </a:solidFill>
              <a:latin typeface="Raleway Light"/>
              <a:ea typeface="Raleway Light"/>
              <a:cs typeface="Raleway Light"/>
              <a:sym typeface="Raleway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68" name="Google Shape;168;p27"/>
          <p:cNvSpPr txBox="1"/>
          <p:nvPr/>
        </p:nvSpPr>
        <p:spPr>
          <a:xfrm>
            <a:off x="693525" y="678875"/>
            <a:ext cx="7715400" cy="3885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a:t>Step 6: System Integration</a:t>
            </a:r>
            <a:endParaRPr b="1"/>
          </a:p>
          <a:p>
            <a:pPr indent="-279400" lvl="0" marL="457200" rtl="0" algn="l">
              <a:lnSpc>
                <a:spcPct val="115000"/>
              </a:lnSpc>
              <a:spcBef>
                <a:spcPts val="1200"/>
              </a:spcBef>
              <a:spcAft>
                <a:spcPts val="0"/>
              </a:spcAft>
              <a:buSzPts val="800"/>
              <a:buChar char="●"/>
            </a:pPr>
            <a:r>
              <a:rPr lang="en" sz="800"/>
              <a:t>The trained machine learning model is integrated into a </a:t>
            </a:r>
            <a:r>
              <a:rPr b="1" lang="en" sz="800"/>
              <a:t>Flask-based web application</a:t>
            </a:r>
            <a:br>
              <a:rPr b="1" lang="en" sz="800"/>
            </a:br>
            <a:endParaRPr b="1" sz="800"/>
          </a:p>
          <a:p>
            <a:pPr indent="-279400" lvl="0" marL="457200" rtl="0" algn="l">
              <a:lnSpc>
                <a:spcPct val="115000"/>
              </a:lnSpc>
              <a:spcBef>
                <a:spcPts val="0"/>
              </a:spcBef>
              <a:spcAft>
                <a:spcPts val="0"/>
              </a:spcAft>
              <a:buSzPts val="800"/>
              <a:buChar char="●"/>
            </a:pPr>
            <a:r>
              <a:rPr lang="en" sz="800"/>
              <a:t>A </a:t>
            </a:r>
            <a:r>
              <a:rPr b="1" lang="en" sz="800"/>
              <a:t>SQLite / CSV-based dataset</a:t>
            </a:r>
            <a:r>
              <a:rPr lang="en" sz="800"/>
              <a:t> is used to store historical job data and prediction results</a:t>
            </a:r>
            <a:br>
              <a:rPr lang="en" sz="800"/>
            </a:br>
            <a:endParaRPr sz="800"/>
          </a:p>
          <a:p>
            <a:pPr indent="-279400" lvl="0" marL="457200" rtl="0" algn="l">
              <a:lnSpc>
                <a:spcPct val="115000"/>
              </a:lnSpc>
              <a:spcBef>
                <a:spcPts val="0"/>
              </a:spcBef>
              <a:spcAft>
                <a:spcPts val="0"/>
              </a:spcAft>
              <a:buSzPts val="800"/>
              <a:buChar char="●"/>
            </a:pPr>
            <a:r>
              <a:rPr lang="en" sz="800"/>
              <a:t>The backend processes user input received from the web interface</a:t>
            </a:r>
            <a:br>
              <a:rPr lang="en" sz="800"/>
            </a:br>
            <a:endParaRPr sz="800"/>
          </a:p>
          <a:p>
            <a:pPr indent="-279400" lvl="0" marL="457200" rtl="0" algn="l">
              <a:lnSpc>
                <a:spcPct val="115000"/>
              </a:lnSpc>
              <a:spcBef>
                <a:spcPts val="0"/>
              </a:spcBef>
              <a:spcAft>
                <a:spcPts val="0"/>
              </a:spcAft>
              <a:buSzPts val="800"/>
              <a:buChar char="●"/>
            </a:pPr>
            <a:r>
              <a:rPr lang="en" sz="800"/>
              <a:t>Preprocessed input data is passed to the machine learning model for prediction</a:t>
            </a:r>
            <a:br>
              <a:rPr lang="en" sz="800"/>
            </a:br>
            <a:endParaRPr sz="800"/>
          </a:p>
          <a:p>
            <a:pPr indent="0" lvl="0" marL="0" rtl="0" algn="l">
              <a:lnSpc>
                <a:spcPct val="115000"/>
              </a:lnSpc>
              <a:spcBef>
                <a:spcPts val="1200"/>
              </a:spcBef>
              <a:spcAft>
                <a:spcPts val="0"/>
              </a:spcAft>
              <a:buNone/>
            </a:pPr>
            <a:r>
              <a:t/>
            </a:r>
            <a:endParaRPr sz="800"/>
          </a:p>
          <a:p>
            <a:pPr indent="0" lvl="0" marL="0" rtl="0" algn="l">
              <a:lnSpc>
                <a:spcPct val="115000"/>
              </a:lnSpc>
              <a:spcBef>
                <a:spcPts val="1800"/>
              </a:spcBef>
              <a:spcAft>
                <a:spcPts val="0"/>
              </a:spcAft>
              <a:buNone/>
            </a:pPr>
            <a:r>
              <a:rPr b="1" lang="en"/>
              <a:t>Step 7: Prediction and Output Display</a:t>
            </a:r>
            <a:endParaRPr b="1"/>
          </a:p>
          <a:p>
            <a:pPr indent="-279400" lvl="0" marL="457200" rtl="0" algn="l">
              <a:lnSpc>
                <a:spcPct val="115000"/>
              </a:lnSpc>
              <a:spcBef>
                <a:spcPts val="1200"/>
              </a:spcBef>
              <a:spcAft>
                <a:spcPts val="0"/>
              </a:spcAft>
              <a:buSzPts val="800"/>
              <a:buChar char="●"/>
            </a:pPr>
            <a:r>
              <a:rPr lang="en" sz="800"/>
              <a:t>User enters job-related details through the web interface</a:t>
            </a:r>
            <a:br>
              <a:rPr lang="en" sz="800"/>
            </a:br>
            <a:endParaRPr sz="800"/>
          </a:p>
          <a:p>
            <a:pPr indent="-279400" lvl="0" marL="457200" rtl="0" algn="l">
              <a:lnSpc>
                <a:spcPct val="115000"/>
              </a:lnSpc>
              <a:spcBef>
                <a:spcPts val="0"/>
              </a:spcBef>
              <a:spcAft>
                <a:spcPts val="0"/>
              </a:spcAft>
              <a:buSzPts val="800"/>
              <a:buChar char="●"/>
            </a:pPr>
            <a:r>
              <a:rPr lang="en" sz="800"/>
              <a:t>The system processes the input and applies the trained ML model</a:t>
            </a:r>
            <a:br>
              <a:rPr lang="en" sz="800"/>
            </a:br>
            <a:endParaRPr sz="800"/>
          </a:p>
          <a:p>
            <a:pPr indent="-279400" lvl="0" marL="457200" rtl="0" algn="l">
              <a:lnSpc>
                <a:spcPct val="115000"/>
              </a:lnSpc>
              <a:spcBef>
                <a:spcPts val="0"/>
              </a:spcBef>
              <a:spcAft>
                <a:spcPts val="0"/>
              </a:spcAft>
              <a:buSzPts val="800"/>
              <a:buChar char="●"/>
            </a:pPr>
            <a:r>
              <a:rPr lang="en" sz="800"/>
              <a:t>The machine learning model predicts the </a:t>
            </a:r>
            <a:r>
              <a:rPr b="1" lang="en" sz="800"/>
              <a:t>job demand level</a:t>
            </a:r>
            <a:br>
              <a:rPr b="1" lang="en" sz="800"/>
            </a:br>
            <a:endParaRPr b="1" sz="800"/>
          </a:p>
          <a:p>
            <a:pPr indent="-279400" lvl="0" marL="457200" rtl="0" algn="l">
              <a:lnSpc>
                <a:spcPct val="115000"/>
              </a:lnSpc>
              <a:spcBef>
                <a:spcPts val="0"/>
              </a:spcBef>
              <a:spcAft>
                <a:spcPts val="0"/>
              </a:spcAft>
              <a:buSzPts val="800"/>
              <a:buChar char="●"/>
            </a:pPr>
            <a:r>
              <a:rPr lang="en" sz="800"/>
              <a:t>Influencing factors affecting demand are identified</a:t>
            </a:r>
            <a:br>
              <a:rPr lang="en" sz="800"/>
            </a:br>
            <a:endParaRPr sz="800"/>
          </a:p>
          <a:p>
            <a:pPr indent="-279400" lvl="0" marL="457200" rtl="0" algn="l">
              <a:lnSpc>
                <a:spcPct val="115000"/>
              </a:lnSpc>
              <a:spcBef>
                <a:spcPts val="0"/>
              </a:spcBef>
              <a:spcAft>
                <a:spcPts val="0"/>
              </a:spcAft>
              <a:buSzPts val="800"/>
              <a:buChar char="●"/>
            </a:pPr>
            <a:r>
              <a:rPr lang="en" sz="800"/>
              <a:t>The predicted results are displayed clearly to the user</a:t>
            </a:r>
            <a:endParaRPr sz="1500">
              <a:solidFill>
                <a:schemeClr val="dk2"/>
              </a:solidFill>
              <a:latin typeface="Raleway Light"/>
              <a:ea typeface="Raleway Light"/>
              <a:cs typeface="Raleway Light"/>
              <a:sym typeface="Raleway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8"/>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74" name="Google Shape;174;p28"/>
          <p:cNvSpPr txBox="1"/>
          <p:nvPr/>
        </p:nvSpPr>
        <p:spPr>
          <a:xfrm>
            <a:off x="507150" y="706825"/>
            <a:ext cx="8190600" cy="387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500"/>
              <a:t>IMPLEMENTATION</a:t>
            </a:r>
            <a:endParaRPr b="1" sz="1500"/>
          </a:p>
          <a:p>
            <a:pPr indent="0" lvl="0" marL="0" rtl="0" algn="l">
              <a:lnSpc>
                <a:spcPct val="115000"/>
              </a:lnSpc>
              <a:spcBef>
                <a:spcPts val="1200"/>
              </a:spcBef>
              <a:spcAft>
                <a:spcPts val="0"/>
              </a:spcAft>
              <a:buNone/>
            </a:pPr>
            <a:r>
              <a:rPr lang="en" sz="900"/>
              <a:t>The implementation phase converts the proposed design and methodology into a fully functional </a:t>
            </a:r>
            <a:r>
              <a:rPr b="1" lang="en" sz="900"/>
              <a:t>Job Demand Prediction System</a:t>
            </a:r>
            <a:r>
              <a:rPr lang="en" sz="900"/>
              <a:t>. The system is implemented using machine learning techniques along with a web-based application to analyze historical job market data and predict future job demand.</a:t>
            </a:r>
            <a:endParaRPr sz="900"/>
          </a:p>
          <a:p>
            <a:pPr indent="0" lvl="0" marL="0" rtl="0" algn="l">
              <a:lnSpc>
                <a:spcPct val="115000"/>
              </a:lnSpc>
              <a:spcBef>
                <a:spcPts val="1400"/>
              </a:spcBef>
              <a:spcAft>
                <a:spcPts val="0"/>
              </a:spcAft>
              <a:buNone/>
            </a:pPr>
            <a:r>
              <a:rPr b="1" lang="en" sz="1100"/>
              <a:t>Technology Stack Used</a:t>
            </a:r>
            <a:endParaRPr b="1" sz="1100"/>
          </a:p>
          <a:p>
            <a:pPr indent="-285750" lvl="0" marL="457200" rtl="0" algn="l">
              <a:lnSpc>
                <a:spcPct val="115000"/>
              </a:lnSpc>
              <a:spcBef>
                <a:spcPts val="1200"/>
              </a:spcBef>
              <a:spcAft>
                <a:spcPts val="0"/>
              </a:spcAft>
              <a:buSzPts val="900"/>
              <a:buChar char="●"/>
            </a:pPr>
            <a:r>
              <a:rPr b="1" lang="en" sz="900"/>
              <a:t>Programming Language:</a:t>
            </a:r>
            <a:r>
              <a:rPr lang="en" sz="900"/>
              <a:t> Python</a:t>
            </a:r>
            <a:br>
              <a:rPr lang="en" sz="900"/>
            </a:br>
            <a:endParaRPr sz="900"/>
          </a:p>
          <a:p>
            <a:pPr indent="-285750" lvl="0" marL="457200" rtl="0" algn="l">
              <a:lnSpc>
                <a:spcPct val="115000"/>
              </a:lnSpc>
              <a:spcBef>
                <a:spcPts val="0"/>
              </a:spcBef>
              <a:spcAft>
                <a:spcPts val="0"/>
              </a:spcAft>
              <a:buSzPts val="900"/>
              <a:buChar char="●"/>
            </a:pPr>
            <a:r>
              <a:rPr b="1" lang="en" sz="900"/>
              <a:t>Machine Learning Libraries:</a:t>
            </a:r>
            <a:r>
              <a:rPr lang="en" sz="900"/>
              <a:t> Scikit-learn (Random Forest / Ensemble Models)</a:t>
            </a:r>
            <a:br>
              <a:rPr lang="en" sz="900"/>
            </a:br>
            <a:endParaRPr sz="900"/>
          </a:p>
          <a:p>
            <a:pPr indent="-285750" lvl="0" marL="457200" rtl="0" algn="l">
              <a:lnSpc>
                <a:spcPct val="115000"/>
              </a:lnSpc>
              <a:spcBef>
                <a:spcPts val="0"/>
              </a:spcBef>
              <a:spcAft>
                <a:spcPts val="0"/>
              </a:spcAft>
              <a:buSzPts val="900"/>
              <a:buChar char="●"/>
            </a:pPr>
            <a:r>
              <a:rPr b="1" lang="en" sz="900"/>
              <a:t>Web Framework:</a:t>
            </a:r>
            <a:r>
              <a:rPr lang="en" sz="900"/>
              <a:t> Flask</a:t>
            </a:r>
            <a:br>
              <a:rPr lang="en" sz="900"/>
            </a:br>
            <a:endParaRPr sz="900"/>
          </a:p>
          <a:p>
            <a:pPr indent="-285750" lvl="0" marL="457200" rtl="0" algn="l">
              <a:lnSpc>
                <a:spcPct val="115000"/>
              </a:lnSpc>
              <a:spcBef>
                <a:spcPts val="0"/>
              </a:spcBef>
              <a:spcAft>
                <a:spcPts val="0"/>
              </a:spcAft>
              <a:buSzPts val="900"/>
              <a:buChar char="●"/>
            </a:pPr>
            <a:r>
              <a:rPr b="1" lang="en" sz="900"/>
              <a:t>Database / Dataset Storage:</a:t>
            </a:r>
            <a:r>
              <a:rPr lang="en" sz="900"/>
              <a:t> SQLite / CSV files</a:t>
            </a:r>
            <a:br>
              <a:rPr lang="en" sz="900"/>
            </a:br>
            <a:endParaRPr sz="900"/>
          </a:p>
          <a:p>
            <a:pPr indent="-285750" lvl="0" marL="457200" rtl="0" algn="l">
              <a:lnSpc>
                <a:spcPct val="115000"/>
              </a:lnSpc>
              <a:spcBef>
                <a:spcPts val="0"/>
              </a:spcBef>
              <a:spcAft>
                <a:spcPts val="0"/>
              </a:spcAft>
              <a:buSzPts val="900"/>
              <a:buChar char="●"/>
            </a:pPr>
            <a:r>
              <a:rPr b="1" lang="en" sz="900"/>
              <a:t>Frontend Technologies:</a:t>
            </a:r>
            <a:r>
              <a:rPr lang="en" sz="900"/>
              <a:t> HTML, CSS, JavaScript</a:t>
            </a:r>
            <a:br>
              <a:rPr lang="en" sz="900"/>
            </a:br>
            <a:endParaRPr sz="900"/>
          </a:p>
          <a:p>
            <a:pPr indent="-285750" lvl="0" marL="457200" rtl="0" algn="l">
              <a:lnSpc>
                <a:spcPct val="115000"/>
              </a:lnSpc>
              <a:spcBef>
                <a:spcPts val="0"/>
              </a:spcBef>
              <a:spcAft>
                <a:spcPts val="0"/>
              </a:spcAft>
              <a:buSzPts val="900"/>
              <a:buChar char="●"/>
            </a:pPr>
            <a:r>
              <a:rPr b="1" lang="en" sz="900"/>
              <a:t>API / External Data:</a:t>
            </a:r>
            <a:r>
              <a:rPr lang="en" sz="900"/>
              <a:t> Optional external datasets for market trends</a:t>
            </a:r>
            <a:br>
              <a:rPr lang="en" sz="900"/>
            </a:br>
            <a:endParaRPr sz="900"/>
          </a:p>
          <a:p>
            <a:pPr indent="0" lvl="0" marL="0" rtl="0" algn="l">
              <a:lnSpc>
                <a:spcPct val="115000"/>
              </a:lnSpc>
              <a:spcBef>
                <a:spcPts val="1200"/>
              </a:spcBef>
              <a:spcAft>
                <a:spcPts val="0"/>
              </a:spcAft>
              <a:buNone/>
            </a:pPr>
            <a:r>
              <a:rPr lang="en" sz="900"/>
              <a:t>The frontend web interface allows users to enter job-related details such as role, skills, experience, and location. The Flask backend processes this input, applies preprocessing and feature engineering, and sends it to the trained machine learning model. The model predicts the job demand level, and the results are stored and displayed to the user through the web application.</a:t>
            </a:r>
            <a:endParaRPr sz="900"/>
          </a:p>
          <a:p>
            <a:pPr indent="0" lvl="0" marL="0" rtl="0" algn="l">
              <a:spcBef>
                <a:spcPts val="1200"/>
              </a:spcBef>
              <a:spcAft>
                <a:spcPts val="0"/>
              </a:spcAft>
              <a:buNone/>
            </a:pPr>
            <a:r>
              <a:t/>
            </a:r>
            <a:endParaRPr sz="1600">
              <a:solidFill>
                <a:schemeClr val="dk2"/>
              </a:solidFill>
              <a:latin typeface="Raleway Light"/>
              <a:ea typeface="Raleway Light"/>
              <a:cs typeface="Raleway Light"/>
              <a:sym typeface="Raleway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9"/>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80" name="Google Shape;180;p29"/>
          <p:cNvSpPr txBox="1"/>
          <p:nvPr/>
        </p:nvSpPr>
        <p:spPr>
          <a:xfrm>
            <a:off x="591025" y="492525"/>
            <a:ext cx="8069400" cy="432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a:t>2. Data Handling Implementation</a:t>
            </a:r>
            <a:endParaRPr b="1"/>
          </a:p>
          <a:p>
            <a:pPr indent="-279400" lvl="0" marL="457200" rtl="0" algn="l">
              <a:lnSpc>
                <a:spcPct val="115000"/>
              </a:lnSpc>
              <a:spcBef>
                <a:spcPts val="1200"/>
              </a:spcBef>
              <a:spcAft>
                <a:spcPts val="0"/>
              </a:spcAft>
              <a:buSzPts val="800"/>
              <a:buChar char="●"/>
            </a:pPr>
            <a:r>
              <a:rPr lang="en" sz="800"/>
              <a:t>Historical job posting data is loaded using </a:t>
            </a:r>
            <a:r>
              <a:rPr b="1" lang="en" sz="800"/>
              <a:t>Python</a:t>
            </a:r>
            <a:br>
              <a:rPr b="1" lang="en" sz="800"/>
            </a:br>
            <a:endParaRPr b="1" sz="800"/>
          </a:p>
          <a:p>
            <a:pPr indent="-279400" lvl="0" marL="457200" rtl="0" algn="l">
              <a:lnSpc>
                <a:spcPct val="115000"/>
              </a:lnSpc>
              <a:spcBef>
                <a:spcPts val="0"/>
              </a:spcBef>
              <a:spcAft>
                <a:spcPts val="0"/>
              </a:spcAft>
              <a:buSzPts val="800"/>
              <a:buChar char="●"/>
            </a:pPr>
            <a:r>
              <a:rPr lang="en" sz="800"/>
              <a:t>Job-related attributes such as role, skills, experience, location, and posting date are merged</a:t>
            </a:r>
            <a:br>
              <a:rPr lang="en" sz="800"/>
            </a:br>
            <a:endParaRPr sz="800"/>
          </a:p>
          <a:p>
            <a:pPr indent="-279400" lvl="0" marL="457200" rtl="0" algn="l">
              <a:lnSpc>
                <a:spcPct val="115000"/>
              </a:lnSpc>
              <a:spcBef>
                <a:spcPts val="0"/>
              </a:spcBef>
              <a:spcAft>
                <a:spcPts val="0"/>
              </a:spcAft>
              <a:buSzPts val="800"/>
              <a:buChar char="●"/>
            </a:pPr>
            <a:r>
              <a:rPr lang="en" sz="800"/>
              <a:t>Missing and inconsistent data is cleaned and converted into machine-readable format</a:t>
            </a:r>
            <a:br>
              <a:rPr lang="en" sz="800"/>
            </a:br>
            <a:endParaRPr sz="800"/>
          </a:p>
          <a:p>
            <a:pPr indent="-279400" lvl="0" marL="457200" rtl="0" algn="l">
              <a:lnSpc>
                <a:spcPct val="115000"/>
              </a:lnSpc>
              <a:spcBef>
                <a:spcPts val="0"/>
              </a:spcBef>
              <a:spcAft>
                <a:spcPts val="0"/>
              </a:spcAft>
              <a:buSzPts val="800"/>
              <a:buChar char="●"/>
            </a:pPr>
            <a:r>
              <a:rPr lang="en" sz="800"/>
              <a:t>Categorical data is encoded and numerical features are standardized</a:t>
            </a:r>
            <a:br>
              <a:rPr lang="en" sz="800"/>
            </a:br>
            <a:endParaRPr sz="800"/>
          </a:p>
          <a:p>
            <a:pPr indent="-279400" lvl="0" marL="457200" rtl="0" algn="l">
              <a:lnSpc>
                <a:spcPct val="115000"/>
              </a:lnSpc>
              <a:spcBef>
                <a:spcPts val="0"/>
              </a:spcBef>
              <a:spcAft>
                <a:spcPts val="0"/>
              </a:spcAft>
              <a:buSzPts val="800"/>
              <a:buChar char="●"/>
            </a:pPr>
            <a:r>
              <a:rPr lang="en" sz="800"/>
              <a:t>The processed dataset is stored in </a:t>
            </a:r>
            <a:r>
              <a:rPr b="1" lang="en" sz="800"/>
              <a:t>SQLite / CSV format</a:t>
            </a:r>
            <a:r>
              <a:rPr lang="en" sz="800"/>
              <a:t> for further analysis</a:t>
            </a:r>
            <a:br>
              <a:rPr lang="en" sz="800"/>
            </a:br>
            <a:endParaRPr sz="800"/>
          </a:p>
          <a:p>
            <a:pPr indent="0" lvl="0" marL="0" rtl="0" algn="l">
              <a:lnSpc>
                <a:spcPct val="115000"/>
              </a:lnSpc>
              <a:spcBef>
                <a:spcPts val="1800"/>
              </a:spcBef>
              <a:spcAft>
                <a:spcPts val="0"/>
              </a:spcAft>
              <a:buNone/>
            </a:pPr>
            <a:r>
              <a:rPr b="1" lang="en"/>
              <a:t>3. Feature Engineering Implementation</a:t>
            </a:r>
            <a:endParaRPr b="1"/>
          </a:p>
          <a:p>
            <a:pPr indent="-279400" lvl="0" marL="457200" rtl="0" algn="l">
              <a:lnSpc>
                <a:spcPct val="115000"/>
              </a:lnSpc>
              <a:spcBef>
                <a:spcPts val="1200"/>
              </a:spcBef>
              <a:spcAft>
                <a:spcPts val="0"/>
              </a:spcAft>
              <a:buSzPts val="800"/>
              <a:buChar char="●"/>
            </a:pPr>
            <a:r>
              <a:rPr lang="en" sz="800"/>
              <a:t>Important features are derived from raw job data</a:t>
            </a:r>
            <a:br>
              <a:rPr lang="en" sz="800"/>
            </a:br>
            <a:endParaRPr sz="800"/>
          </a:p>
          <a:p>
            <a:pPr indent="-279400" lvl="0" marL="457200" rtl="0" algn="l">
              <a:lnSpc>
                <a:spcPct val="115000"/>
              </a:lnSpc>
              <a:spcBef>
                <a:spcPts val="0"/>
              </a:spcBef>
              <a:spcAft>
                <a:spcPts val="0"/>
              </a:spcAft>
              <a:buSzPts val="800"/>
              <a:buChar char="●"/>
            </a:pPr>
            <a:r>
              <a:rPr lang="en" sz="800"/>
              <a:t>Skill frequency and demand indicators are generated</a:t>
            </a:r>
            <a:br>
              <a:rPr lang="en" sz="800"/>
            </a:br>
            <a:endParaRPr sz="800"/>
          </a:p>
          <a:p>
            <a:pPr indent="-279400" lvl="0" marL="457200" rtl="0" algn="l">
              <a:lnSpc>
                <a:spcPct val="115000"/>
              </a:lnSpc>
              <a:spcBef>
                <a:spcPts val="0"/>
              </a:spcBef>
              <a:spcAft>
                <a:spcPts val="0"/>
              </a:spcAft>
              <a:buSzPts val="800"/>
              <a:buChar char="●"/>
            </a:pPr>
            <a:r>
              <a:rPr lang="en" sz="800"/>
              <a:t>Experience levels are categorized into meaningful groups</a:t>
            </a:r>
            <a:br>
              <a:rPr lang="en" sz="800"/>
            </a:br>
            <a:endParaRPr sz="800"/>
          </a:p>
          <a:p>
            <a:pPr indent="-279400" lvl="0" marL="457200" rtl="0" algn="l">
              <a:lnSpc>
                <a:spcPct val="115000"/>
              </a:lnSpc>
              <a:spcBef>
                <a:spcPts val="0"/>
              </a:spcBef>
              <a:spcAft>
                <a:spcPts val="0"/>
              </a:spcAft>
              <a:buSzPts val="800"/>
              <a:buChar char="●"/>
            </a:pPr>
            <a:r>
              <a:rPr lang="en" sz="800"/>
              <a:t>Location-based demand features are created</a:t>
            </a:r>
            <a:br>
              <a:rPr lang="en" sz="800"/>
            </a:br>
            <a:endParaRPr sz="800"/>
          </a:p>
          <a:p>
            <a:pPr indent="-279400" lvl="0" marL="457200" rtl="0" algn="l">
              <a:lnSpc>
                <a:spcPct val="115000"/>
              </a:lnSpc>
              <a:spcBef>
                <a:spcPts val="0"/>
              </a:spcBef>
              <a:spcAft>
                <a:spcPts val="0"/>
              </a:spcAft>
              <a:buSzPts val="800"/>
              <a:buChar char="●"/>
            </a:pPr>
            <a:r>
              <a:rPr lang="en" sz="800"/>
              <a:t>Time-based features such as monthly and yearly trends are added</a:t>
            </a:r>
            <a:br>
              <a:rPr lang="en" sz="800"/>
            </a:br>
            <a:endParaRPr sz="800"/>
          </a:p>
          <a:p>
            <a:pPr indent="-279400" lvl="0" marL="457200" rtl="0" algn="l">
              <a:lnSpc>
                <a:spcPct val="115000"/>
              </a:lnSpc>
              <a:spcBef>
                <a:spcPts val="0"/>
              </a:spcBef>
              <a:spcAft>
                <a:spcPts val="0"/>
              </a:spcAft>
              <a:buSzPts val="800"/>
              <a:buChar char="●"/>
            </a:pPr>
            <a:r>
              <a:rPr lang="en" sz="800"/>
              <a:t>These features help the model understand real-world job demand patterns</a:t>
            </a:r>
            <a:endParaRPr sz="1500">
              <a:solidFill>
                <a:schemeClr val="dk2"/>
              </a:solidFill>
              <a:latin typeface="Raleway Light"/>
              <a:ea typeface="Raleway Light"/>
              <a:cs typeface="Raleway Light"/>
              <a:sym typeface="Raleway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86" name="Google Shape;186;p30"/>
          <p:cNvSpPr txBox="1"/>
          <p:nvPr/>
        </p:nvSpPr>
        <p:spPr>
          <a:xfrm>
            <a:off x="553750" y="473875"/>
            <a:ext cx="8218500" cy="427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a:t>4. Machine Learning Model Implementation</a:t>
            </a:r>
            <a:endParaRPr b="1"/>
          </a:p>
          <a:p>
            <a:pPr indent="-279400" lvl="0" marL="457200" rtl="0" algn="l">
              <a:lnSpc>
                <a:spcPct val="115000"/>
              </a:lnSpc>
              <a:spcBef>
                <a:spcPts val="1200"/>
              </a:spcBef>
              <a:spcAft>
                <a:spcPts val="0"/>
              </a:spcAft>
              <a:buSzPts val="800"/>
              <a:buChar char="●"/>
            </a:pPr>
            <a:r>
              <a:rPr lang="en" sz="800"/>
              <a:t>A machine learning model is implemented for predicting job demand</a:t>
            </a:r>
            <a:br>
              <a:rPr lang="en" sz="800"/>
            </a:br>
            <a:endParaRPr sz="800"/>
          </a:p>
          <a:p>
            <a:pPr indent="-279400" lvl="0" marL="457200" rtl="0" algn="l">
              <a:lnSpc>
                <a:spcPct val="115000"/>
              </a:lnSpc>
              <a:spcBef>
                <a:spcPts val="0"/>
              </a:spcBef>
              <a:spcAft>
                <a:spcPts val="0"/>
              </a:spcAft>
              <a:buSzPts val="800"/>
              <a:buChar char="●"/>
            </a:pPr>
            <a:r>
              <a:rPr b="1" lang="en" sz="800"/>
              <a:t>Random Forest / ensemble-based algorithms</a:t>
            </a:r>
            <a:r>
              <a:rPr lang="en" sz="800"/>
              <a:t> are used for better accuracy and stability</a:t>
            </a:r>
            <a:br>
              <a:rPr lang="en" sz="800"/>
            </a:br>
            <a:endParaRPr sz="800"/>
          </a:p>
          <a:p>
            <a:pPr indent="-279400" lvl="0" marL="457200" rtl="0" algn="l">
              <a:lnSpc>
                <a:spcPct val="115000"/>
              </a:lnSpc>
              <a:spcBef>
                <a:spcPts val="0"/>
              </a:spcBef>
              <a:spcAft>
                <a:spcPts val="0"/>
              </a:spcAft>
              <a:buSzPts val="800"/>
              <a:buChar char="●"/>
            </a:pPr>
            <a:r>
              <a:rPr lang="en" sz="800"/>
              <a:t>The dataset is split into </a:t>
            </a:r>
            <a:r>
              <a:rPr b="1" lang="en" sz="800"/>
              <a:t>training and testing sets</a:t>
            </a:r>
            <a:br>
              <a:rPr b="1" lang="en" sz="800"/>
            </a:br>
            <a:endParaRPr b="1" sz="800"/>
          </a:p>
          <a:p>
            <a:pPr indent="-279400" lvl="0" marL="457200" rtl="0" algn="l">
              <a:lnSpc>
                <a:spcPct val="115000"/>
              </a:lnSpc>
              <a:spcBef>
                <a:spcPts val="0"/>
              </a:spcBef>
              <a:spcAft>
                <a:spcPts val="0"/>
              </a:spcAft>
              <a:buSzPts val="800"/>
              <a:buChar char="●"/>
            </a:pPr>
            <a:r>
              <a:rPr lang="en" sz="800"/>
              <a:t>The model is trained using historical job market data</a:t>
            </a:r>
            <a:br>
              <a:rPr lang="en" sz="800"/>
            </a:br>
            <a:endParaRPr sz="800"/>
          </a:p>
          <a:p>
            <a:pPr indent="-279400" lvl="0" marL="457200" rtl="0" algn="l">
              <a:lnSpc>
                <a:spcPct val="115000"/>
              </a:lnSpc>
              <a:spcBef>
                <a:spcPts val="0"/>
              </a:spcBef>
              <a:spcAft>
                <a:spcPts val="0"/>
              </a:spcAft>
              <a:buSzPts val="800"/>
              <a:buChar char="●"/>
            </a:pPr>
            <a:r>
              <a:rPr lang="en" sz="800"/>
              <a:t>Hyperparameters are tuned to improve model performance</a:t>
            </a:r>
            <a:br>
              <a:rPr lang="en" sz="800"/>
            </a:br>
            <a:endParaRPr sz="800"/>
          </a:p>
          <a:p>
            <a:pPr indent="-279400" lvl="0" marL="457200" rtl="0" algn="l">
              <a:lnSpc>
                <a:spcPct val="115000"/>
              </a:lnSpc>
              <a:spcBef>
                <a:spcPts val="0"/>
              </a:spcBef>
              <a:spcAft>
                <a:spcPts val="0"/>
              </a:spcAft>
              <a:buSzPts val="800"/>
              <a:buChar char="●"/>
            </a:pPr>
            <a:r>
              <a:rPr lang="en" sz="800"/>
              <a:t>The trained model is saved for future predictions and deployment</a:t>
            </a:r>
            <a:br>
              <a:rPr lang="en" sz="800"/>
            </a:br>
            <a:endParaRPr sz="800"/>
          </a:p>
          <a:p>
            <a:pPr indent="0" lvl="0" marL="0" rtl="0" algn="l">
              <a:lnSpc>
                <a:spcPct val="115000"/>
              </a:lnSpc>
              <a:spcBef>
                <a:spcPts val="1800"/>
              </a:spcBef>
              <a:spcAft>
                <a:spcPts val="0"/>
              </a:spcAft>
              <a:buNone/>
            </a:pPr>
            <a:r>
              <a:rPr b="1" lang="en"/>
              <a:t>5. Web Application Implementation</a:t>
            </a:r>
            <a:endParaRPr b="1"/>
          </a:p>
          <a:p>
            <a:pPr indent="-279400" lvl="0" marL="457200" rtl="0" algn="l">
              <a:lnSpc>
                <a:spcPct val="115000"/>
              </a:lnSpc>
              <a:spcBef>
                <a:spcPts val="1200"/>
              </a:spcBef>
              <a:spcAft>
                <a:spcPts val="0"/>
              </a:spcAft>
              <a:buSzPts val="800"/>
              <a:buChar char="●"/>
            </a:pPr>
            <a:r>
              <a:rPr lang="en" sz="800"/>
              <a:t>The </a:t>
            </a:r>
            <a:r>
              <a:rPr b="1" lang="en" sz="800"/>
              <a:t>Flask framework</a:t>
            </a:r>
            <a:r>
              <a:rPr lang="en" sz="800"/>
              <a:t> is used to connect the frontend and backend components</a:t>
            </a:r>
            <a:br>
              <a:rPr lang="en" sz="800"/>
            </a:br>
            <a:endParaRPr sz="800"/>
          </a:p>
          <a:p>
            <a:pPr indent="-279400" lvl="0" marL="457200" rtl="0" algn="l">
              <a:lnSpc>
                <a:spcPct val="115000"/>
              </a:lnSpc>
              <a:spcBef>
                <a:spcPts val="0"/>
              </a:spcBef>
              <a:spcAft>
                <a:spcPts val="0"/>
              </a:spcAft>
              <a:buSzPts val="800"/>
              <a:buChar char="●"/>
            </a:pPr>
            <a:r>
              <a:rPr lang="en" sz="800"/>
              <a:t>Users enter job-related details such as role, skills, experience, and location through the web interface</a:t>
            </a:r>
            <a:br>
              <a:rPr lang="en" sz="800"/>
            </a:br>
            <a:endParaRPr sz="800"/>
          </a:p>
          <a:p>
            <a:pPr indent="-279400" lvl="0" marL="457200" rtl="0" algn="l">
              <a:lnSpc>
                <a:spcPct val="115000"/>
              </a:lnSpc>
              <a:spcBef>
                <a:spcPts val="0"/>
              </a:spcBef>
              <a:spcAft>
                <a:spcPts val="0"/>
              </a:spcAft>
              <a:buSzPts val="800"/>
              <a:buChar char="●"/>
            </a:pPr>
            <a:r>
              <a:rPr lang="en" sz="800"/>
              <a:t>The backend processes the input and sends it to the trained machine learning model</a:t>
            </a:r>
            <a:br>
              <a:rPr lang="en" sz="800"/>
            </a:br>
            <a:endParaRPr sz="800"/>
          </a:p>
          <a:p>
            <a:pPr indent="-279400" lvl="0" marL="457200" rtl="0" algn="l">
              <a:lnSpc>
                <a:spcPct val="115000"/>
              </a:lnSpc>
              <a:spcBef>
                <a:spcPts val="0"/>
              </a:spcBef>
              <a:spcAft>
                <a:spcPts val="0"/>
              </a:spcAft>
              <a:buSzPts val="800"/>
              <a:buChar char="●"/>
            </a:pPr>
            <a:r>
              <a:rPr lang="en" sz="800"/>
              <a:t>The model generates the predicted </a:t>
            </a:r>
            <a:r>
              <a:rPr b="1" lang="en" sz="800"/>
              <a:t>job demand level</a:t>
            </a:r>
            <a:br>
              <a:rPr b="1" lang="en" sz="800"/>
            </a:br>
            <a:endParaRPr b="1" sz="800"/>
          </a:p>
          <a:p>
            <a:pPr indent="-279400" lvl="0" marL="457200" rtl="0" algn="l">
              <a:lnSpc>
                <a:spcPct val="115000"/>
              </a:lnSpc>
              <a:spcBef>
                <a:spcPts val="0"/>
              </a:spcBef>
              <a:spcAft>
                <a:spcPts val="0"/>
              </a:spcAft>
              <a:buSzPts val="800"/>
              <a:buChar char="●"/>
            </a:pPr>
            <a:r>
              <a:rPr lang="en" sz="800"/>
              <a:t>Prediction results are retrieved and displayed clearly to the user through the web application</a:t>
            </a:r>
            <a:endParaRPr sz="1500">
              <a:solidFill>
                <a:schemeClr val="dk2"/>
              </a:solidFill>
              <a:latin typeface="Raleway Light"/>
              <a:ea typeface="Raleway Light"/>
              <a:cs typeface="Raleway Light"/>
              <a:sym typeface="Raleway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1"/>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92" name="Google Shape;192;p31"/>
          <p:cNvSpPr txBox="1"/>
          <p:nvPr/>
        </p:nvSpPr>
        <p:spPr>
          <a:xfrm>
            <a:off x="516400" y="479850"/>
            <a:ext cx="4603200" cy="418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a:t>EXPERIMENTAL SETUP &amp; RESULTS</a:t>
            </a:r>
            <a:endParaRPr b="1"/>
          </a:p>
          <a:p>
            <a:pPr indent="0" lvl="0" marL="0" rtl="0" algn="l">
              <a:lnSpc>
                <a:spcPct val="115000"/>
              </a:lnSpc>
              <a:spcBef>
                <a:spcPts val="1400"/>
              </a:spcBef>
              <a:spcAft>
                <a:spcPts val="0"/>
              </a:spcAft>
              <a:buNone/>
            </a:pPr>
            <a:r>
              <a:rPr b="1" lang="en" sz="1000"/>
              <a:t>Experimental Setup</a:t>
            </a:r>
            <a:endParaRPr b="1" sz="1000"/>
          </a:p>
          <a:p>
            <a:pPr indent="-279400" lvl="0" marL="457200" rtl="0" algn="l">
              <a:lnSpc>
                <a:spcPct val="115000"/>
              </a:lnSpc>
              <a:spcBef>
                <a:spcPts val="1200"/>
              </a:spcBef>
              <a:spcAft>
                <a:spcPts val="0"/>
              </a:spcAft>
              <a:buSzPts val="800"/>
              <a:buChar char="●"/>
            </a:pPr>
            <a:r>
              <a:rPr b="1" lang="en" sz="800"/>
              <a:t>Hardware:</a:t>
            </a:r>
            <a:r>
              <a:rPr lang="en" sz="800"/>
              <a:t> Intel i5 processor, 8 GB RAM, 50 GB storage (64-bit)</a:t>
            </a:r>
            <a:br>
              <a:rPr lang="en" sz="800"/>
            </a:br>
            <a:endParaRPr sz="800"/>
          </a:p>
          <a:p>
            <a:pPr indent="-279400" lvl="0" marL="457200" rtl="0" algn="l">
              <a:lnSpc>
                <a:spcPct val="115000"/>
              </a:lnSpc>
              <a:spcBef>
                <a:spcPts val="0"/>
              </a:spcBef>
              <a:spcAft>
                <a:spcPts val="0"/>
              </a:spcAft>
              <a:buSzPts val="800"/>
              <a:buChar char="●"/>
            </a:pPr>
            <a:r>
              <a:rPr b="1" lang="en" sz="800"/>
              <a:t>Software:</a:t>
            </a:r>
            <a:r>
              <a:rPr lang="en" sz="800"/>
              <a:t> Windows / Linux, Python</a:t>
            </a:r>
            <a:br>
              <a:rPr lang="en" sz="800"/>
            </a:br>
            <a:endParaRPr sz="800"/>
          </a:p>
          <a:p>
            <a:pPr indent="-279400" lvl="0" marL="457200" rtl="0" algn="l">
              <a:lnSpc>
                <a:spcPct val="115000"/>
              </a:lnSpc>
              <a:spcBef>
                <a:spcPts val="0"/>
              </a:spcBef>
              <a:spcAft>
                <a:spcPts val="0"/>
              </a:spcAft>
              <a:buSzPts val="800"/>
              <a:buChar char="●"/>
            </a:pPr>
            <a:r>
              <a:rPr b="1" lang="en" sz="800"/>
              <a:t>Tools:</a:t>
            </a:r>
            <a:r>
              <a:rPr lang="en" sz="800"/>
              <a:t> VS Code, Jupyter Notebook</a:t>
            </a:r>
            <a:br>
              <a:rPr lang="en" sz="800"/>
            </a:br>
            <a:endParaRPr sz="800"/>
          </a:p>
          <a:p>
            <a:pPr indent="-279400" lvl="0" marL="457200" rtl="0" algn="l">
              <a:lnSpc>
                <a:spcPct val="115000"/>
              </a:lnSpc>
              <a:spcBef>
                <a:spcPts val="0"/>
              </a:spcBef>
              <a:spcAft>
                <a:spcPts val="0"/>
              </a:spcAft>
              <a:buSzPts val="800"/>
              <a:buChar char="●"/>
            </a:pPr>
            <a:r>
              <a:rPr b="1" lang="en" sz="800"/>
              <a:t>ML Libraries:</a:t>
            </a:r>
            <a:r>
              <a:rPr lang="en" sz="800"/>
              <a:t> NumPy, Pandas, Scikit-learn</a:t>
            </a:r>
            <a:br>
              <a:rPr lang="en" sz="800"/>
            </a:br>
            <a:endParaRPr sz="800"/>
          </a:p>
          <a:p>
            <a:pPr indent="-279400" lvl="0" marL="457200" rtl="0" algn="l">
              <a:lnSpc>
                <a:spcPct val="115000"/>
              </a:lnSpc>
              <a:spcBef>
                <a:spcPts val="0"/>
              </a:spcBef>
              <a:spcAft>
                <a:spcPts val="0"/>
              </a:spcAft>
              <a:buSzPts val="800"/>
              <a:buChar char="●"/>
            </a:pPr>
            <a:r>
              <a:rPr b="1" lang="en" sz="800"/>
              <a:t>Web &amp; DB:</a:t>
            </a:r>
            <a:r>
              <a:rPr lang="en" sz="800"/>
              <a:t> Flask, SQLite</a:t>
            </a:r>
            <a:br>
              <a:rPr lang="en" sz="800"/>
            </a:br>
            <a:endParaRPr sz="800"/>
          </a:p>
          <a:p>
            <a:pPr indent="0" lvl="0" marL="0" rtl="0" algn="l">
              <a:lnSpc>
                <a:spcPct val="115000"/>
              </a:lnSpc>
              <a:spcBef>
                <a:spcPts val="1400"/>
              </a:spcBef>
              <a:spcAft>
                <a:spcPts val="0"/>
              </a:spcAft>
              <a:buNone/>
            </a:pPr>
            <a:r>
              <a:rPr b="1" lang="en" sz="1000"/>
              <a:t>Dataset</a:t>
            </a:r>
            <a:endParaRPr b="1" sz="1000"/>
          </a:p>
          <a:p>
            <a:pPr indent="-279400" lvl="0" marL="457200" rtl="0" algn="l">
              <a:lnSpc>
                <a:spcPct val="115000"/>
              </a:lnSpc>
              <a:spcBef>
                <a:spcPts val="1200"/>
              </a:spcBef>
              <a:spcAft>
                <a:spcPts val="0"/>
              </a:spcAft>
              <a:buSzPts val="800"/>
              <a:buChar char="●"/>
            </a:pPr>
            <a:r>
              <a:rPr lang="en" sz="800"/>
              <a:t>Historical job posting records collected from reliable datasets</a:t>
            </a:r>
            <a:br>
              <a:rPr lang="en" sz="800"/>
            </a:br>
            <a:endParaRPr sz="800"/>
          </a:p>
          <a:p>
            <a:pPr indent="-279400" lvl="0" marL="457200" rtl="0" algn="l">
              <a:lnSpc>
                <a:spcPct val="115000"/>
              </a:lnSpc>
              <a:spcBef>
                <a:spcPts val="0"/>
              </a:spcBef>
              <a:spcAft>
                <a:spcPts val="0"/>
              </a:spcAft>
              <a:buSzPts val="800"/>
              <a:buChar char="●"/>
            </a:pPr>
            <a:r>
              <a:rPr lang="en" sz="800"/>
              <a:t>Attributes include </a:t>
            </a:r>
            <a:r>
              <a:rPr b="1" lang="en" sz="800"/>
              <a:t>job role, required skills, experience level, location, and posting date</a:t>
            </a:r>
            <a:br>
              <a:rPr b="1" lang="en" sz="800"/>
            </a:br>
            <a:endParaRPr b="1" sz="800"/>
          </a:p>
          <a:p>
            <a:pPr indent="-279400" lvl="0" marL="457200" rtl="0" algn="l">
              <a:lnSpc>
                <a:spcPct val="115000"/>
              </a:lnSpc>
              <a:spcBef>
                <a:spcPts val="0"/>
              </a:spcBef>
              <a:spcAft>
                <a:spcPts val="0"/>
              </a:spcAft>
              <a:buSzPts val="800"/>
              <a:buChar char="●"/>
            </a:pPr>
            <a:r>
              <a:rPr lang="en" sz="800"/>
              <a:t>Time-based features such as </a:t>
            </a:r>
            <a:r>
              <a:rPr b="1" lang="en" sz="800"/>
              <a:t>month-wise and year-wise trends</a:t>
            </a:r>
            <a:r>
              <a:rPr lang="en" sz="800"/>
              <a:t> are considered</a:t>
            </a:r>
            <a:br>
              <a:rPr lang="en" sz="800"/>
            </a:br>
            <a:endParaRPr sz="800"/>
          </a:p>
          <a:p>
            <a:pPr indent="-279400" lvl="0" marL="457200" rtl="0" algn="l">
              <a:lnSpc>
                <a:spcPct val="115000"/>
              </a:lnSpc>
              <a:spcBef>
                <a:spcPts val="0"/>
              </a:spcBef>
              <a:spcAft>
                <a:spcPts val="0"/>
              </a:spcAft>
              <a:buSzPts val="800"/>
              <a:buChar char="●"/>
            </a:pPr>
            <a:r>
              <a:rPr lang="en" sz="800"/>
              <a:t>Job demand level is derived from </a:t>
            </a:r>
            <a:r>
              <a:rPr b="1" lang="en" sz="800"/>
              <a:t>frequency of job postings</a:t>
            </a:r>
            <a:br>
              <a:rPr b="1" lang="en" sz="800"/>
            </a:br>
            <a:endParaRPr b="1" sz="800"/>
          </a:p>
          <a:p>
            <a:pPr indent="-279400" lvl="0" marL="457200" rtl="0" algn="l">
              <a:lnSpc>
                <a:spcPct val="115000"/>
              </a:lnSpc>
              <a:spcBef>
                <a:spcPts val="0"/>
              </a:spcBef>
              <a:spcAft>
                <a:spcPts val="0"/>
              </a:spcAft>
              <a:buSzPts val="800"/>
              <a:buChar char="●"/>
            </a:pPr>
            <a:r>
              <a:rPr b="1" lang="en" sz="800"/>
              <a:t>Target Variable:</a:t>
            </a:r>
            <a:r>
              <a:rPr lang="en" sz="800"/>
              <a:t> Job Demand Category (High / Medium / Low)</a:t>
            </a:r>
            <a:br>
              <a:rPr lang="en" sz="800"/>
            </a:br>
            <a:endParaRPr sz="1500">
              <a:solidFill>
                <a:schemeClr val="dk2"/>
              </a:solidFill>
              <a:latin typeface="Raleway Light"/>
              <a:ea typeface="Raleway Light"/>
              <a:cs typeface="Raleway Light"/>
              <a:sym typeface="Raleway Light"/>
            </a:endParaRPr>
          </a:p>
        </p:txBody>
      </p:sp>
      <p:sp>
        <p:nvSpPr>
          <p:cNvPr id="193" name="Google Shape;193;p31"/>
          <p:cNvSpPr txBox="1"/>
          <p:nvPr/>
        </p:nvSpPr>
        <p:spPr>
          <a:xfrm>
            <a:off x="4383425" y="1154100"/>
            <a:ext cx="4118400" cy="312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000"/>
              <a:t>Results</a:t>
            </a:r>
            <a:endParaRPr b="1" sz="1000"/>
          </a:p>
          <a:p>
            <a:pPr indent="-279400" lvl="0" marL="457200" rtl="0" algn="l">
              <a:lnSpc>
                <a:spcPct val="115000"/>
              </a:lnSpc>
              <a:spcBef>
                <a:spcPts val="1200"/>
              </a:spcBef>
              <a:spcAft>
                <a:spcPts val="0"/>
              </a:spcAft>
              <a:buSzPts val="800"/>
              <a:buChar char="●"/>
            </a:pPr>
            <a:r>
              <a:rPr lang="en" sz="800"/>
              <a:t>The model successfully identifies </a:t>
            </a:r>
            <a:r>
              <a:rPr b="1" lang="en" sz="800"/>
              <a:t>job demand trends</a:t>
            </a:r>
            <a:br>
              <a:rPr b="1" lang="en" sz="800"/>
            </a:br>
            <a:endParaRPr b="1" sz="800"/>
          </a:p>
          <a:p>
            <a:pPr indent="-279400" lvl="0" marL="457200" rtl="0" algn="l">
              <a:lnSpc>
                <a:spcPct val="115000"/>
              </a:lnSpc>
              <a:spcBef>
                <a:spcPts val="0"/>
              </a:spcBef>
              <a:spcAft>
                <a:spcPts val="0"/>
              </a:spcAft>
              <a:buSzPts val="800"/>
              <a:buChar char="●"/>
            </a:pPr>
            <a:r>
              <a:rPr lang="en" sz="800"/>
              <a:t>Achieved </a:t>
            </a:r>
            <a:r>
              <a:rPr b="1" lang="en" sz="800"/>
              <a:t>good prediction accuracy (around 80–85%)</a:t>
            </a:r>
            <a:r>
              <a:rPr lang="en" sz="800"/>
              <a:t> on test data</a:t>
            </a:r>
            <a:br>
              <a:rPr lang="en" sz="800"/>
            </a:br>
            <a:endParaRPr sz="800"/>
          </a:p>
          <a:p>
            <a:pPr indent="-279400" lvl="0" marL="457200" rtl="0" algn="l">
              <a:lnSpc>
                <a:spcPct val="115000"/>
              </a:lnSpc>
              <a:spcBef>
                <a:spcPts val="0"/>
              </a:spcBef>
              <a:spcAft>
                <a:spcPts val="0"/>
              </a:spcAft>
              <a:buSzPts val="800"/>
              <a:buChar char="●"/>
            </a:pPr>
            <a:r>
              <a:rPr lang="en" sz="800"/>
              <a:t>Performs consistently across different job roles and locations</a:t>
            </a:r>
            <a:br>
              <a:rPr lang="en" sz="800"/>
            </a:br>
            <a:endParaRPr sz="800"/>
          </a:p>
          <a:p>
            <a:pPr indent="-279400" lvl="0" marL="457200" rtl="0" algn="l">
              <a:lnSpc>
                <a:spcPct val="115000"/>
              </a:lnSpc>
              <a:spcBef>
                <a:spcPts val="0"/>
              </a:spcBef>
              <a:spcAft>
                <a:spcPts val="0"/>
              </a:spcAft>
              <a:buSzPts val="800"/>
              <a:buChar char="●"/>
            </a:pPr>
            <a:r>
              <a:rPr lang="en" sz="800"/>
              <a:t>Prediction results are generated </a:t>
            </a:r>
            <a:r>
              <a:rPr b="1" lang="en" sz="800"/>
              <a:t>within a short response time</a:t>
            </a:r>
            <a:br>
              <a:rPr b="1" lang="en" sz="800"/>
            </a:br>
            <a:endParaRPr b="1" sz="800"/>
          </a:p>
          <a:p>
            <a:pPr indent="-279400" lvl="0" marL="457200" rtl="0" algn="l">
              <a:lnSpc>
                <a:spcPct val="115000"/>
              </a:lnSpc>
              <a:spcBef>
                <a:spcPts val="0"/>
              </a:spcBef>
              <a:spcAft>
                <a:spcPts val="0"/>
              </a:spcAft>
              <a:buSzPts val="800"/>
              <a:buChar char="●"/>
            </a:pPr>
            <a:r>
              <a:rPr lang="en" sz="800"/>
              <a:t>The system provides reliable insights for </a:t>
            </a:r>
            <a:r>
              <a:rPr b="1" lang="en" sz="800"/>
              <a:t>career and workforce planning</a:t>
            </a:r>
            <a:endParaRPr sz="1800">
              <a:solidFill>
                <a:schemeClr val="dk2"/>
              </a:solidFill>
              <a:latin typeface="Raleway Light"/>
              <a:ea typeface="Raleway Light"/>
              <a:cs typeface="Raleway Light"/>
              <a:sym typeface="Raleway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idx="1" type="body"/>
          </p:nvPr>
        </p:nvSpPr>
        <p:spPr>
          <a:xfrm>
            <a:off x="642450" y="390025"/>
            <a:ext cx="3543300" cy="42003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700">
                <a:solidFill>
                  <a:srgbClr val="000000"/>
                </a:solidFill>
                <a:latin typeface="Arial"/>
                <a:ea typeface="Arial"/>
                <a:cs typeface="Arial"/>
                <a:sym typeface="Arial"/>
              </a:rPr>
              <a:t>APPLICATIONS</a:t>
            </a:r>
            <a:endParaRPr b="1" sz="1700">
              <a:solidFill>
                <a:srgbClr val="000000"/>
              </a:solidFill>
              <a:latin typeface="Arial"/>
              <a:ea typeface="Arial"/>
              <a:cs typeface="Arial"/>
              <a:sym typeface="Arial"/>
            </a:endParaRPr>
          </a:p>
          <a:p>
            <a:pPr indent="-292100" lvl="0" marL="457200" rtl="0" algn="l">
              <a:lnSpc>
                <a:spcPct val="115000"/>
              </a:lnSpc>
              <a:spcBef>
                <a:spcPts val="1200"/>
              </a:spcBef>
              <a:spcAft>
                <a:spcPts val="0"/>
              </a:spcAft>
              <a:buClr>
                <a:srgbClr val="000000"/>
              </a:buClr>
              <a:buSzPts val="1000"/>
              <a:buFont typeface="Arial"/>
              <a:buChar char="●"/>
            </a:pPr>
            <a:r>
              <a:rPr lang="en" sz="1000">
                <a:solidFill>
                  <a:srgbClr val="000000"/>
                </a:solidFill>
                <a:latin typeface="Arial"/>
                <a:ea typeface="Arial"/>
                <a:cs typeface="Arial"/>
                <a:sym typeface="Arial"/>
              </a:rPr>
              <a:t>Helps </a:t>
            </a:r>
            <a:r>
              <a:rPr b="1" lang="en" sz="1000">
                <a:solidFill>
                  <a:srgbClr val="000000"/>
                </a:solidFill>
                <a:latin typeface="Arial"/>
                <a:ea typeface="Arial"/>
                <a:cs typeface="Arial"/>
                <a:sym typeface="Arial"/>
              </a:rPr>
              <a:t>job seekers</a:t>
            </a:r>
            <a:r>
              <a:rPr lang="en" sz="1000">
                <a:solidFill>
                  <a:srgbClr val="000000"/>
                </a:solidFill>
                <a:latin typeface="Arial"/>
                <a:ea typeface="Arial"/>
                <a:cs typeface="Arial"/>
                <a:sym typeface="Arial"/>
              </a:rPr>
              <a:t> understand current and future job demand trends</a:t>
            </a:r>
            <a:br>
              <a:rPr lang="en"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indent="-292100" lvl="0" marL="457200" rtl="0" algn="l">
              <a:lnSpc>
                <a:spcPct val="115000"/>
              </a:lnSpc>
              <a:spcBef>
                <a:spcPts val="0"/>
              </a:spcBef>
              <a:spcAft>
                <a:spcPts val="0"/>
              </a:spcAft>
              <a:buClr>
                <a:srgbClr val="000000"/>
              </a:buClr>
              <a:buSzPts val="1000"/>
              <a:buFont typeface="Arial"/>
              <a:buChar char="●"/>
            </a:pPr>
            <a:r>
              <a:rPr lang="en" sz="1000">
                <a:solidFill>
                  <a:srgbClr val="000000"/>
                </a:solidFill>
                <a:latin typeface="Arial"/>
                <a:ea typeface="Arial"/>
                <a:cs typeface="Arial"/>
                <a:sym typeface="Arial"/>
              </a:rPr>
              <a:t>Assists in </a:t>
            </a:r>
            <a:r>
              <a:rPr b="1" lang="en" sz="1000">
                <a:solidFill>
                  <a:srgbClr val="000000"/>
                </a:solidFill>
                <a:latin typeface="Arial"/>
                <a:ea typeface="Arial"/>
                <a:cs typeface="Arial"/>
                <a:sym typeface="Arial"/>
              </a:rPr>
              <a:t>career planning</a:t>
            </a:r>
            <a:r>
              <a:rPr lang="en" sz="1000">
                <a:solidFill>
                  <a:srgbClr val="000000"/>
                </a:solidFill>
                <a:latin typeface="Arial"/>
                <a:ea typeface="Arial"/>
                <a:cs typeface="Arial"/>
                <a:sym typeface="Arial"/>
              </a:rPr>
              <a:t> and skill development decisions</a:t>
            </a:r>
            <a:br>
              <a:rPr lang="en"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indent="-292100" lvl="0" marL="457200" rtl="0" algn="l">
              <a:lnSpc>
                <a:spcPct val="115000"/>
              </a:lnSpc>
              <a:spcBef>
                <a:spcPts val="0"/>
              </a:spcBef>
              <a:spcAft>
                <a:spcPts val="0"/>
              </a:spcAft>
              <a:buClr>
                <a:srgbClr val="000000"/>
              </a:buClr>
              <a:buSzPts val="1000"/>
              <a:buFont typeface="Arial"/>
              <a:buChar char="●"/>
            </a:pPr>
            <a:r>
              <a:rPr lang="en" sz="1000">
                <a:solidFill>
                  <a:srgbClr val="000000"/>
                </a:solidFill>
                <a:latin typeface="Arial"/>
                <a:ea typeface="Arial"/>
                <a:cs typeface="Arial"/>
                <a:sym typeface="Arial"/>
              </a:rPr>
              <a:t>Useful for </a:t>
            </a:r>
            <a:r>
              <a:rPr b="1" lang="en" sz="1000">
                <a:solidFill>
                  <a:srgbClr val="000000"/>
                </a:solidFill>
                <a:latin typeface="Arial"/>
                <a:ea typeface="Arial"/>
                <a:cs typeface="Arial"/>
                <a:sym typeface="Arial"/>
              </a:rPr>
              <a:t>students and fresh graduates</a:t>
            </a:r>
            <a:r>
              <a:rPr lang="en" sz="1000">
                <a:solidFill>
                  <a:srgbClr val="000000"/>
                </a:solidFill>
                <a:latin typeface="Arial"/>
                <a:ea typeface="Arial"/>
                <a:cs typeface="Arial"/>
                <a:sym typeface="Arial"/>
              </a:rPr>
              <a:t> to choose in-demand roles</a:t>
            </a:r>
            <a:br>
              <a:rPr lang="en"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indent="-292100" lvl="0" marL="457200" rtl="0" algn="l">
              <a:lnSpc>
                <a:spcPct val="115000"/>
              </a:lnSpc>
              <a:spcBef>
                <a:spcPts val="0"/>
              </a:spcBef>
              <a:spcAft>
                <a:spcPts val="0"/>
              </a:spcAft>
              <a:buClr>
                <a:srgbClr val="000000"/>
              </a:buClr>
              <a:buSzPts val="1000"/>
              <a:buFont typeface="Arial"/>
              <a:buChar char="●"/>
            </a:pPr>
            <a:r>
              <a:rPr lang="en" sz="1000">
                <a:solidFill>
                  <a:srgbClr val="000000"/>
                </a:solidFill>
                <a:latin typeface="Arial"/>
                <a:ea typeface="Arial"/>
                <a:cs typeface="Arial"/>
                <a:sym typeface="Arial"/>
              </a:rPr>
              <a:t>Supports </a:t>
            </a:r>
            <a:r>
              <a:rPr b="1" lang="en" sz="1000">
                <a:solidFill>
                  <a:srgbClr val="000000"/>
                </a:solidFill>
                <a:latin typeface="Arial"/>
                <a:ea typeface="Arial"/>
                <a:cs typeface="Arial"/>
                <a:sym typeface="Arial"/>
              </a:rPr>
              <a:t>recruiters and HR teams</a:t>
            </a:r>
            <a:r>
              <a:rPr lang="en" sz="1000">
                <a:solidFill>
                  <a:srgbClr val="000000"/>
                </a:solidFill>
                <a:latin typeface="Arial"/>
                <a:ea typeface="Arial"/>
                <a:cs typeface="Arial"/>
                <a:sym typeface="Arial"/>
              </a:rPr>
              <a:t> in workforce planning</a:t>
            </a:r>
            <a:br>
              <a:rPr lang="en"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indent="-292100" lvl="0" marL="457200" rtl="0" algn="l">
              <a:lnSpc>
                <a:spcPct val="115000"/>
              </a:lnSpc>
              <a:spcBef>
                <a:spcPts val="0"/>
              </a:spcBef>
              <a:spcAft>
                <a:spcPts val="0"/>
              </a:spcAft>
              <a:buClr>
                <a:srgbClr val="000000"/>
              </a:buClr>
              <a:buSzPts val="1000"/>
              <a:buFont typeface="Arial"/>
              <a:buChar char="●"/>
            </a:pPr>
            <a:r>
              <a:rPr lang="en" sz="1000">
                <a:solidFill>
                  <a:srgbClr val="000000"/>
                </a:solidFill>
                <a:latin typeface="Arial"/>
                <a:ea typeface="Arial"/>
                <a:cs typeface="Arial"/>
                <a:sym typeface="Arial"/>
              </a:rPr>
              <a:t>Helps organizations identify </a:t>
            </a:r>
            <a:r>
              <a:rPr b="1" lang="en" sz="1000">
                <a:solidFill>
                  <a:srgbClr val="000000"/>
                </a:solidFill>
                <a:latin typeface="Arial"/>
                <a:ea typeface="Arial"/>
                <a:cs typeface="Arial"/>
                <a:sym typeface="Arial"/>
              </a:rPr>
              <a:t>skill gaps</a:t>
            </a:r>
            <a:r>
              <a:rPr lang="en" sz="1000">
                <a:solidFill>
                  <a:srgbClr val="000000"/>
                </a:solidFill>
                <a:latin typeface="Arial"/>
                <a:ea typeface="Arial"/>
                <a:cs typeface="Arial"/>
                <a:sym typeface="Arial"/>
              </a:rPr>
              <a:t> and hiring needs</a:t>
            </a:r>
            <a:br>
              <a:rPr lang="en"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indent="-292100" lvl="0" marL="457200" rtl="0" algn="l">
              <a:lnSpc>
                <a:spcPct val="115000"/>
              </a:lnSpc>
              <a:spcBef>
                <a:spcPts val="0"/>
              </a:spcBef>
              <a:spcAft>
                <a:spcPts val="0"/>
              </a:spcAft>
              <a:buClr>
                <a:srgbClr val="000000"/>
              </a:buClr>
              <a:buSzPts val="1000"/>
              <a:buFont typeface="Arial"/>
              <a:buChar char="●"/>
            </a:pPr>
            <a:r>
              <a:rPr lang="en" sz="1000">
                <a:solidFill>
                  <a:srgbClr val="000000"/>
                </a:solidFill>
                <a:latin typeface="Arial"/>
                <a:ea typeface="Arial"/>
                <a:cs typeface="Arial"/>
                <a:sym typeface="Arial"/>
              </a:rPr>
              <a:t>Useful for </a:t>
            </a:r>
            <a:r>
              <a:rPr b="1" lang="en" sz="1000">
                <a:solidFill>
                  <a:srgbClr val="000000"/>
                </a:solidFill>
                <a:latin typeface="Arial"/>
                <a:ea typeface="Arial"/>
                <a:cs typeface="Arial"/>
                <a:sym typeface="Arial"/>
              </a:rPr>
              <a:t>educational institutions</a:t>
            </a:r>
            <a:r>
              <a:rPr lang="en" sz="1000">
                <a:solidFill>
                  <a:srgbClr val="000000"/>
                </a:solidFill>
                <a:latin typeface="Arial"/>
                <a:ea typeface="Arial"/>
                <a:cs typeface="Arial"/>
                <a:sym typeface="Arial"/>
              </a:rPr>
              <a:t> to align curriculum with industry demand</a:t>
            </a:r>
            <a:br>
              <a:rPr lang="en"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indent="-292100" lvl="0" marL="457200" rtl="0" algn="l">
              <a:lnSpc>
                <a:spcPct val="115000"/>
              </a:lnSpc>
              <a:spcBef>
                <a:spcPts val="0"/>
              </a:spcBef>
              <a:spcAft>
                <a:spcPts val="0"/>
              </a:spcAft>
              <a:buClr>
                <a:srgbClr val="000000"/>
              </a:buClr>
              <a:buSzPts val="1000"/>
              <a:buFont typeface="Arial"/>
              <a:buChar char="●"/>
            </a:pPr>
            <a:r>
              <a:rPr lang="en" sz="1000">
                <a:solidFill>
                  <a:srgbClr val="000000"/>
                </a:solidFill>
                <a:latin typeface="Arial"/>
                <a:ea typeface="Arial"/>
                <a:cs typeface="Arial"/>
                <a:sym typeface="Arial"/>
              </a:rPr>
              <a:t>Improves overall </a:t>
            </a:r>
            <a:r>
              <a:rPr b="1" lang="en" sz="1000">
                <a:solidFill>
                  <a:srgbClr val="000000"/>
                </a:solidFill>
                <a:latin typeface="Arial"/>
                <a:ea typeface="Arial"/>
                <a:cs typeface="Arial"/>
                <a:sym typeface="Arial"/>
              </a:rPr>
              <a:t>job market transparency and planning</a:t>
            </a:r>
            <a:endParaRPr sz="1700"/>
          </a:p>
        </p:txBody>
      </p:sp>
      <p:sp>
        <p:nvSpPr>
          <p:cNvPr id="199" name="Google Shape;199;p32"/>
          <p:cNvSpPr txBox="1"/>
          <p:nvPr>
            <p:ph idx="2" type="body"/>
          </p:nvPr>
        </p:nvSpPr>
        <p:spPr>
          <a:xfrm>
            <a:off x="4687975" y="390025"/>
            <a:ext cx="3543300" cy="39672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700">
                <a:solidFill>
                  <a:srgbClr val="000000"/>
                </a:solidFill>
                <a:latin typeface="Arial"/>
                <a:ea typeface="Arial"/>
                <a:cs typeface="Arial"/>
                <a:sym typeface="Arial"/>
              </a:rPr>
              <a:t>FUTURE SCOPE</a:t>
            </a:r>
            <a:endParaRPr b="1" sz="1700">
              <a:solidFill>
                <a:srgbClr val="000000"/>
              </a:solidFill>
              <a:latin typeface="Arial"/>
              <a:ea typeface="Arial"/>
              <a:cs typeface="Arial"/>
              <a:sym typeface="Arial"/>
            </a:endParaRPr>
          </a:p>
          <a:p>
            <a:pPr indent="-292100" lvl="0" marL="457200" rtl="0" algn="l">
              <a:lnSpc>
                <a:spcPct val="115000"/>
              </a:lnSpc>
              <a:spcBef>
                <a:spcPts val="1200"/>
              </a:spcBef>
              <a:spcAft>
                <a:spcPts val="0"/>
              </a:spcAft>
              <a:buClr>
                <a:srgbClr val="000000"/>
              </a:buClr>
              <a:buSzPts val="1000"/>
              <a:buFont typeface="Arial"/>
              <a:buChar char="●"/>
            </a:pPr>
            <a:r>
              <a:rPr lang="en" sz="1000">
                <a:solidFill>
                  <a:srgbClr val="000000"/>
                </a:solidFill>
                <a:latin typeface="Arial"/>
                <a:ea typeface="Arial"/>
                <a:cs typeface="Arial"/>
                <a:sym typeface="Arial"/>
              </a:rPr>
              <a:t>Integration of </a:t>
            </a:r>
            <a:r>
              <a:rPr b="1" lang="en" sz="1000">
                <a:solidFill>
                  <a:srgbClr val="000000"/>
                </a:solidFill>
                <a:latin typeface="Arial"/>
                <a:ea typeface="Arial"/>
                <a:cs typeface="Arial"/>
                <a:sym typeface="Arial"/>
              </a:rPr>
              <a:t>real-time job posting data</a:t>
            </a:r>
            <a:r>
              <a:rPr lang="en" sz="1000">
                <a:solidFill>
                  <a:srgbClr val="000000"/>
                </a:solidFill>
                <a:latin typeface="Arial"/>
                <a:ea typeface="Arial"/>
                <a:cs typeface="Arial"/>
                <a:sym typeface="Arial"/>
              </a:rPr>
              <a:t> from multiple job portals</a:t>
            </a:r>
            <a:br>
              <a:rPr lang="en"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indent="-292100" lvl="0" marL="457200" rtl="0" algn="l">
              <a:lnSpc>
                <a:spcPct val="115000"/>
              </a:lnSpc>
              <a:spcBef>
                <a:spcPts val="0"/>
              </a:spcBef>
              <a:spcAft>
                <a:spcPts val="0"/>
              </a:spcAft>
              <a:buClr>
                <a:srgbClr val="000000"/>
              </a:buClr>
              <a:buSzPts val="1000"/>
              <a:buFont typeface="Arial"/>
              <a:buChar char="●"/>
            </a:pPr>
            <a:r>
              <a:rPr lang="en" sz="1000">
                <a:solidFill>
                  <a:srgbClr val="000000"/>
                </a:solidFill>
                <a:latin typeface="Arial"/>
                <a:ea typeface="Arial"/>
                <a:cs typeface="Arial"/>
                <a:sym typeface="Arial"/>
              </a:rPr>
              <a:t>Use of </a:t>
            </a:r>
            <a:r>
              <a:rPr b="1" lang="en" sz="1000">
                <a:solidFill>
                  <a:srgbClr val="000000"/>
                </a:solidFill>
                <a:latin typeface="Arial"/>
                <a:ea typeface="Arial"/>
                <a:cs typeface="Arial"/>
                <a:sym typeface="Arial"/>
              </a:rPr>
              <a:t>live market trends</a:t>
            </a:r>
            <a:r>
              <a:rPr lang="en" sz="1000">
                <a:solidFill>
                  <a:srgbClr val="000000"/>
                </a:solidFill>
                <a:latin typeface="Arial"/>
                <a:ea typeface="Arial"/>
                <a:cs typeface="Arial"/>
                <a:sym typeface="Arial"/>
              </a:rPr>
              <a:t> for improved prediction accuracy</a:t>
            </a:r>
            <a:br>
              <a:rPr lang="en"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indent="-292100" lvl="0" marL="457200" rtl="0" algn="l">
              <a:lnSpc>
                <a:spcPct val="115000"/>
              </a:lnSpc>
              <a:spcBef>
                <a:spcPts val="0"/>
              </a:spcBef>
              <a:spcAft>
                <a:spcPts val="0"/>
              </a:spcAft>
              <a:buClr>
                <a:srgbClr val="000000"/>
              </a:buClr>
              <a:buSzPts val="1000"/>
              <a:buFont typeface="Arial"/>
              <a:buChar char="●"/>
            </a:pPr>
            <a:r>
              <a:rPr lang="en" sz="1000">
                <a:solidFill>
                  <a:srgbClr val="000000"/>
                </a:solidFill>
                <a:latin typeface="Arial"/>
                <a:ea typeface="Arial"/>
                <a:cs typeface="Arial"/>
                <a:sym typeface="Arial"/>
              </a:rPr>
              <a:t>Development of a </a:t>
            </a:r>
            <a:r>
              <a:rPr b="1" lang="en" sz="1000">
                <a:solidFill>
                  <a:srgbClr val="000000"/>
                </a:solidFill>
                <a:latin typeface="Arial"/>
                <a:ea typeface="Arial"/>
                <a:cs typeface="Arial"/>
                <a:sym typeface="Arial"/>
              </a:rPr>
              <a:t>mobile application</a:t>
            </a:r>
            <a:r>
              <a:rPr lang="en" sz="1000">
                <a:solidFill>
                  <a:srgbClr val="000000"/>
                </a:solidFill>
                <a:latin typeface="Arial"/>
                <a:ea typeface="Arial"/>
                <a:cs typeface="Arial"/>
                <a:sym typeface="Arial"/>
              </a:rPr>
              <a:t> for easy access</a:t>
            </a:r>
            <a:br>
              <a:rPr lang="en"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indent="-292100" lvl="0" marL="457200" rtl="0" algn="l">
              <a:lnSpc>
                <a:spcPct val="115000"/>
              </a:lnSpc>
              <a:spcBef>
                <a:spcPts val="0"/>
              </a:spcBef>
              <a:spcAft>
                <a:spcPts val="0"/>
              </a:spcAft>
              <a:buClr>
                <a:srgbClr val="000000"/>
              </a:buClr>
              <a:buSzPts val="1000"/>
              <a:buFont typeface="Arial"/>
              <a:buChar char="●"/>
            </a:pPr>
            <a:r>
              <a:rPr lang="en" sz="1000">
                <a:solidFill>
                  <a:srgbClr val="000000"/>
                </a:solidFill>
                <a:latin typeface="Arial"/>
                <a:ea typeface="Arial"/>
                <a:cs typeface="Arial"/>
                <a:sym typeface="Arial"/>
              </a:rPr>
              <a:t>Support for </a:t>
            </a:r>
            <a:r>
              <a:rPr b="1" lang="en" sz="1000">
                <a:solidFill>
                  <a:srgbClr val="000000"/>
                </a:solidFill>
                <a:latin typeface="Arial"/>
                <a:ea typeface="Arial"/>
                <a:cs typeface="Arial"/>
                <a:sym typeface="Arial"/>
              </a:rPr>
              <a:t>more job roles, industries, and locations</a:t>
            </a:r>
            <a:br>
              <a:rPr b="1" lang="en" sz="1000">
                <a:solidFill>
                  <a:srgbClr val="000000"/>
                </a:solidFill>
                <a:latin typeface="Arial"/>
                <a:ea typeface="Arial"/>
                <a:cs typeface="Arial"/>
                <a:sym typeface="Arial"/>
              </a:rPr>
            </a:br>
            <a:endParaRPr b="1" sz="1000">
              <a:solidFill>
                <a:srgbClr val="000000"/>
              </a:solidFill>
              <a:latin typeface="Arial"/>
              <a:ea typeface="Arial"/>
              <a:cs typeface="Arial"/>
              <a:sym typeface="Arial"/>
            </a:endParaRPr>
          </a:p>
          <a:p>
            <a:pPr indent="-292100" lvl="0" marL="457200" rtl="0" algn="l">
              <a:lnSpc>
                <a:spcPct val="115000"/>
              </a:lnSpc>
              <a:spcBef>
                <a:spcPts val="0"/>
              </a:spcBef>
              <a:spcAft>
                <a:spcPts val="0"/>
              </a:spcAft>
              <a:buClr>
                <a:srgbClr val="000000"/>
              </a:buClr>
              <a:buSzPts val="1000"/>
              <a:buFont typeface="Arial"/>
              <a:buChar char="●"/>
            </a:pPr>
            <a:r>
              <a:rPr lang="en" sz="1000">
                <a:solidFill>
                  <a:srgbClr val="000000"/>
                </a:solidFill>
                <a:latin typeface="Arial"/>
                <a:ea typeface="Arial"/>
                <a:cs typeface="Arial"/>
                <a:sym typeface="Arial"/>
              </a:rPr>
              <a:t>Advanced analytics for </a:t>
            </a:r>
            <a:r>
              <a:rPr b="1" lang="en" sz="1000">
                <a:solidFill>
                  <a:srgbClr val="000000"/>
                </a:solidFill>
                <a:latin typeface="Arial"/>
                <a:ea typeface="Arial"/>
                <a:cs typeface="Arial"/>
                <a:sym typeface="Arial"/>
              </a:rPr>
              <a:t>skill demand forecasting</a:t>
            </a:r>
            <a:br>
              <a:rPr b="1" lang="en" sz="1000">
                <a:solidFill>
                  <a:srgbClr val="000000"/>
                </a:solidFill>
                <a:latin typeface="Arial"/>
                <a:ea typeface="Arial"/>
                <a:cs typeface="Arial"/>
                <a:sym typeface="Arial"/>
              </a:rPr>
            </a:br>
            <a:endParaRPr b="1" sz="1000">
              <a:solidFill>
                <a:srgbClr val="000000"/>
              </a:solidFill>
              <a:latin typeface="Arial"/>
              <a:ea typeface="Arial"/>
              <a:cs typeface="Arial"/>
              <a:sym typeface="Arial"/>
            </a:endParaRPr>
          </a:p>
          <a:p>
            <a:pPr indent="-292100" lvl="0" marL="457200" rtl="0" algn="l">
              <a:lnSpc>
                <a:spcPct val="115000"/>
              </a:lnSpc>
              <a:spcBef>
                <a:spcPts val="0"/>
              </a:spcBef>
              <a:spcAft>
                <a:spcPts val="0"/>
              </a:spcAft>
              <a:buClr>
                <a:srgbClr val="000000"/>
              </a:buClr>
              <a:buSzPts val="1000"/>
              <a:buFont typeface="Arial"/>
              <a:buChar char="●"/>
            </a:pPr>
            <a:r>
              <a:rPr lang="en" sz="1000">
                <a:solidFill>
                  <a:srgbClr val="000000"/>
                </a:solidFill>
                <a:latin typeface="Arial"/>
                <a:ea typeface="Arial"/>
                <a:cs typeface="Arial"/>
                <a:sym typeface="Arial"/>
              </a:rPr>
              <a:t>Integration with </a:t>
            </a:r>
            <a:r>
              <a:rPr b="1" lang="en" sz="1000">
                <a:solidFill>
                  <a:srgbClr val="000000"/>
                </a:solidFill>
                <a:latin typeface="Arial"/>
                <a:ea typeface="Arial"/>
                <a:cs typeface="Arial"/>
                <a:sym typeface="Arial"/>
              </a:rPr>
              <a:t>career guidance and recommendation systems</a:t>
            </a:r>
            <a:endParaRPr b="1" sz="10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
        <p:nvSpPr>
          <p:cNvPr id="200" name="Google Shape;200;p32"/>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3"/>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06" name="Google Shape;206;p33"/>
          <p:cNvSpPr txBox="1"/>
          <p:nvPr/>
        </p:nvSpPr>
        <p:spPr>
          <a:xfrm>
            <a:off x="793500" y="630000"/>
            <a:ext cx="7557000" cy="3883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0"/>
              </a:spcAft>
              <a:buNone/>
            </a:pPr>
            <a:r>
              <a:rPr b="1" lang="en" sz="1700"/>
              <a:t>CONCLUSION</a:t>
            </a:r>
            <a:endParaRPr b="1" sz="1700"/>
          </a:p>
          <a:p>
            <a:pPr indent="0" lvl="0" marL="0" rtl="0" algn="l">
              <a:lnSpc>
                <a:spcPct val="115000"/>
              </a:lnSpc>
              <a:spcBef>
                <a:spcPts val="1200"/>
              </a:spcBef>
              <a:spcAft>
                <a:spcPts val="0"/>
              </a:spcAft>
              <a:buNone/>
            </a:pPr>
            <a:r>
              <a:rPr lang="en" sz="1100"/>
              <a:t>This project successfully demonstrates the application of </a:t>
            </a:r>
            <a:r>
              <a:rPr b="1" lang="en" sz="1100"/>
              <a:t>machine learning techniques</a:t>
            </a:r>
            <a:r>
              <a:rPr lang="en" sz="1100"/>
              <a:t> for predicting job demand trends using historical job market data. By analyzing important factors such as job roles, required skills, experience levels, location, and time-based trends, the system provides meaningful insights into current and future employment demand.</a:t>
            </a:r>
            <a:endParaRPr sz="1100"/>
          </a:p>
          <a:p>
            <a:pPr indent="0" lvl="0" marL="0" rtl="0" algn="l">
              <a:lnSpc>
                <a:spcPct val="115000"/>
              </a:lnSpc>
              <a:spcBef>
                <a:spcPts val="1200"/>
              </a:spcBef>
              <a:spcAft>
                <a:spcPts val="0"/>
              </a:spcAft>
              <a:buNone/>
            </a:pPr>
            <a:r>
              <a:rPr lang="en" sz="1100"/>
              <a:t>The proposed </a:t>
            </a:r>
            <a:r>
              <a:rPr b="1" lang="en" sz="1100"/>
              <a:t>Job Demand Prediction System</a:t>
            </a:r>
            <a:r>
              <a:rPr lang="en" sz="1100"/>
              <a:t> offers more accurate and data-driven predictions compared to traditional static job analysis methods. The web-based application allows users to easily explore job demand patterns and make informed decisions related to career planning and workforce management.</a:t>
            </a:r>
            <a:endParaRPr sz="1100"/>
          </a:p>
          <a:p>
            <a:pPr indent="0" lvl="0" marL="0" rtl="0" algn="l">
              <a:lnSpc>
                <a:spcPct val="115000"/>
              </a:lnSpc>
              <a:spcBef>
                <a:spcPts val="1200"/>
              </a:spcBef>
              <a:spcAft>
                <a:spcPts val="1200"/>
              </a:spcAft>
              <a:buNone/>
            </a:pPr>
            <a:r>
              <a:rPr lang="en" sz="1100"/>
              <a:t>Overall, the system helps job seekers understand market requirements, assists recruiters in planning hiring strategies, and contributes to improving transparency and efficiency in job market analysis.</a:t>
            </a:r>
            <a:endParaRPr sz="1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4"/>
          <p:cNvSpPr txBox="1"/>
          <p:nvPr>
            <p:ph idx="12" type="sldNum"/>
          </p:nvPr>
        </p:nvSpPr>
        <p:spPr>
          <a:xfrm>
            <a:off x="8604400" y="4590300"/>
            <a:ext cx="539700" cy="55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12" name="Google Shape;212;p34"/>
          <p:cNvSpPr txBox="1"/>
          <p:nvPr/>
        </p:nvSpPr>
        <p:spPr>
          <a:xfrm>
            <a:off x="1229100" y="1926300"/>
            <a:ext cx="66858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200">
                <a:solidFill>
                  <a:schemeClr val="dk2"/>
                </a:solidFill>
                <a:latin typeface="Raleway Light"/>
                <a:ea typeface="Raleway Light"/>
                <a:cs typeface="Raleway Light"/>
                <a:sym typeface="Raleway Light"/>
              </a:rPr>
              <a:t>Thank you </a:t>
            </a:r>
            <a:endParaRPr sz="7200">
              <a:solidFill>
                <a:schemeClr val="dk2"/>
              </a:solidFill>
              <a:latin typeface="Raleway Light"/>
              <a:ea typeface="Raleway Light"/>
              <a:cs typeface="Raleway Light"/>
              <a:sym typeface="Raleway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Olivia template">
  <a:themeElements>
    <a:clrScheme name="Custom 347">
      <a:dk1>
        <a:srgbClr val="434343"/>
      </a:dk1>
      <a:lt1>
        <a:srgbClr val="FFFFFF"/>
      </a:lt1>
      <a:dk2>
        <a:srgbClr val="666666"/>
      </a:dk2>
      <a:lt2>
        <a:srgbClr val="ECE9E6"/>
      </a:lt2>
      <a:accent1>
        <a:srgbClr val="FFB600"/>
      </a:accent1>
      <a:accent2>
        <a:srgbClr val="FF8400"/>
      </a:accent2>
      <a:accent3>
        <a:srgbClr val="FA5E5E"/>
      </a:accent3>
      <a:accent4>
        <a:srgbClr val="E42A87"/>
      </a:accent4>
      <a:accent5>
        <a:srgbClr val="B143C7"/>
      </a:accent5>
      <a:accent6>
        <a:srgbClr val="7241B4"/>
      </a:accent6>
      <a:hlink>
        <a:srgbClr val="434343"/>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